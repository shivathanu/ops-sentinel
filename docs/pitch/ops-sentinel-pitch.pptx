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ba6cc12-d2df-2a3e-9d69-502f4dded0d2}">
          <p14:sldIdLst>
            <p14:sldId id="256"/>
          </p14:sldIdLst>
        </p14:section>
        <p14:section name="Problem" id="{dec217b9-6ac3-d5d7-6e80-c3fe9c871e13}">
          <p14:sldIdLst>
            <p14:sldId id="257"/>
            <p14:sldId id="258"/>
          </p14:sldIdLst>
        </p14:section>
        <p14:section name="Solution" id="{37cd410a-d2ed-2d90-88a5-097dcaa0925a}">
          <p14:sldIdLst>
            <p14:sldId id="259"/>
            <p14:sldId id="260"/>
          </p14:sldIdLst>
        </p14:section>
        <p14:section name="Architecture" id="{98ca5d93-26f8-c627-f2db-e8722c7faa11}">
          <p14:sldIdLst>
            <p14:sldId id="261"/>
            <p14:sldId id="262"/>
            <p14:sldId id="263"/>
          </p14:sldIdLst>
        </p14:section>
        <p14:section name="Product" id="{654e543c-f275-133e-137a-30767107ebd4}">
          <p14:sldIdLst>
            <p14:sldId id="264"/>
            <p14:sldId id="265"/>
            <p14:sldId id="266"/>
            <p14:sldId id="267"/>
          </p14:sldIdLst>
        </p14:section>
        <p14:section name="Close" id="{092305bd-df95-ab13-c32c-d5d3341d940d}">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Ops Sentinel is an AI SRE for data platforms. It takes alerts from any tool, turns them into one incident, has AI agents triage and investigate with read-only access to Exasol, routes it to the right people, and never changes anything without a named person approving.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has the problem: platform, data-engineering and on-call SRE teams whose companies run on data pipelines. What goes wrong: alerts come from many tools and repeat, investigation is manual across logs, SQL, lineage and history, stale numbers reach decision-makers, and fixes are made under pressure with admin credentials and no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matters: trust, because decisions are made on stale data; time, because resolution is spent investigating and repeats start from zero; money, because runaway queries burn compute silently; and risk, because unsupervised automation with production credentials makes incidents worse. The answer has to give speed and control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Ops Sentinel acts like an SRE team. It understands: one incident per failure, agents that triage and investigate with read-only tools and explain impact and root cause with evidence. It reaches the right people per team and severity. And it acts safely: only pre-approved actions, a named approver, and every step audited. These three numbers are design guarantees, not estimates.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in six steps. Any tool posts an alert. Ops Sentinel fingerprints it, so repeats join one incident. It routes the incident to the right channel. The AI SRE triages and investigates. A fix is only ever a pre-approved action that a named person approves. And every step lands in Exasol.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is the architecture, not a feature. A fast triage agent decides whether to investigate. The investigator works hypothesis-first and delegates to specialist subagents, each in its own context: a data analyst with read-only SQL on Exasol and a history analyst for past incidents. Every agent has budgets, returns a validated structured result, and can run on Claude, OpenAI or a local model. Teams change agents in configuration, not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Exasol is not just a data source here, it is the system of record: incidents, the job queue, agent runs and the audit log all live in the platform schema. Agents investigate through a read-only user, and Python UDFs run fingerprinting, vector similarity for retrieval, and anomaly scoring next to the data. Four separate database users keep migration, runtime, fixes and investigation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Speed must not cost control. Six independent controls: agents are read-only, model input is treated as data, fixes come only from a pre-approved catalog, a named human approves, database users have least privilege, and everything is audited. Every one of them fails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Onboarding is four commands: bootstrap Exasol once, describe the team in one YAML file, validate it offline, and start it with docker compose. The api applies migrations itself. Several teams share one deployment with one spec file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follows one realistic failure. Alertmanager fires for the finance pipeline. One incident opens and reaches on-call in Slack. Triage explains the business impact on the Finance Executive BI dashboard. The investigator's data analyst queries the pipeline logs in Exasol and finds the warehouse refusing connections after a slow run. The analysis lands in Slack with a suggested pre-approved action. Repeats join the incident and the recovery closes it, with the whole timeline in Exasol.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status. Running end to end on a live Exasol: ingest, correlation, routing, Slack and webhook delivery, auto-resolve, migrations, the job queue and least-privilege users, with 224 automated tests. The agent runtime is built and tested, and the live model run is the next step. After that: policy-gated remediation, the CLI on the new API, knowledge and runbooks, and enterprise hardening.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Phases zero to two are built. Next comes remediation with policies and verification, then knowledge and memory with retrieval inside Exasol, then enterprise hardening and integrations.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Ops Sentinel: trusted data, faster recovery, and no unsupervised changes. The code, run guide and deployment guide are in the repository, under Apache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2801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3337560"/>
            <a:ext cx="10698480" cy="822960"/>
          </a:xfrm>
          <a:prstGeom prst="rect">
            <a:avLst/>
          </a:prstGeom>
          <a:noFill/>
          <a:ln/>
        </p:spPr>
        <p:txBody>
          <a:bodyPr wrap="square" rtlCol="0"/>
          <a:lstStyle>
            <a:lvl1pPr algn="l" indent="0" marL="0">
              <a:buNone/>
              <a:defRPr lang="en-US" sz="2400" dirty="0">
                <a:solidFill>
                  <a:schemeClr val="accent1"/>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chemeClr val="accent5"/>
                </a:solidFill>
              </a:rPr>
              <a:t>Ops Sentinel</a:t>
            </a:r>
            <a:endParaRPr lang="en-US" sz="1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280160"/>
          </a:xfrm>
          <a:prstGeom prst="rect">
            <a:avLst/>
          </a:prstGeom>
          <a:noFill/>
          <a:ln/>
        </p:spPr>
        <p:txBody>
          <a:bodyPr wrap="square" lIns="0" tIns="0" rIns="0" bIns="0" rtlCol="0" anchor="b"/>
          <a:lstStyle/>
          <a:p>
            <a:pPr algn="l" indent="0" marL="0">
              <a:buNone/>
            </a:pPr>
            <a:r>
              <a:rPr lang="en-US" sz="5400" b="1" dirty="0">
                <a:solidFill>
                  <a:schemeClr val="bg1"/>
                </a:solidFill>
              </a:rPr>
              <a:t>Ops Sentinel</a:t>
            </a:r>
            <a:endParaRPr lang="en-US" sz="5400" dirty="0"/>
          </a:p>
        </p:txBody>
      </p:sp>
      <p:sp>
        <p:nvSpPr>
          <p:cNvPr id="3" name="Text 0"/>
          <p:cNvSpPr/>
          <p:nvPr>
            <p:ph idx="101" type="body" hasCustomPrompt="1"/>
          </p:nvPr>
        </p:nvSpPr>
        <p:spPr>
          <a:xfrm>
            <a:off x="731520" y="3337560"/>
            <a:ext cx="10698480" cy="822960"/>
          </a:xfrm>
          <a:prstGeom prst="rect">
            <a:avLst/>
          </a:prstGeom>
          <a:noFill/>
          <a:ln/>
        </p:spPr>
        <p:txBody>
          <a:bodyPr wrap="square" lIns="0" tIns="0" rIns="0" bIns="0" rtlCol="0" anchor="t"/>
          <a:lstStyle/>
          <a:p>
            <a:pPr algn="l" indent="0" marL="0">
              <a:buNone/>
            </a:pPr>
            <a:r>
              <a:rPr lang="en-US" sz="2400" dirty="0">
                <a:solidFill>
                  <a:schemeClr val="accent1"/>
                </a:solidFill>
              </a:rPr>
              <a:t>The AI SRE for data platforms, built on Exasol</a:t>
            </a:r>
            <a:endParaRPr lang="en-US" sz="2400" dirty="0"/>
          </a:p>
        </p:txBody>
      </p:sp>
      <p:sp>
        <p:nvSpPr>
          <p:cNvPr id="4" name="logo circle"/>
          <p:cNvSpPr/>
          <p:nvPr/>
        </p:nvSpPr>
        <p:spPr>
          <a:xfrm>
            <a:off x="731520" y="777240"/>
            <a:ext cx="868680" cy="868680"/>
          </a:xfrm>
          <a:prstGeom prst="ellipse">
            <a:avLst/>
          </a:prstGeom>
          <a:solidFill>
            <a:schemeClr val="accent1"/>
          </a:solidFill>
          <a:ln/>
        </p:spPr>
      </p:sp>
      <p:pic>
        <p:nvPicPr>
          <p:cNvPr id="5" name="logo icon" descr="preencoded.png">    </p:cNvPr>
          <p:cNvPicPr>
            <a:picLocks noChangeAspect="1"/>
          </p:cNvPicPr>
          <p:nvPr/>
        </p:nvPicPr>
        <p:blipFill>
          <a:blip r:embed="rId1"/>
          <a:stretch>
            <a:fillRect/>
          </a:stretch>
        </p:blipFill>
        <p:spPr>
          <a:xfrm>
            <a:off x="948690" y="994410"/>
            <a:ext cx="434340" cy="434340"/>
          </a:xfrm>
          <a:prstGeom prst="rect">
            <a:avLst/>
          </a:prstGeom>
        </p:spPr>
      </p:pic>
      <p:sp>
        <p:nvSpPr>
          <p:cNvPr id="6" name="tagline"/>
          <p:cNvSpPr txBox="1"/>
          <p:nvPr/>
        </p:nvSpPr>
        <p:spPr>
          <a:xfrm>
            <a:off x="731520" y="4343400"/>
            <a:ext cx="9601200" cy="548640"/>
          </a:xfrm>
          <a:prstGeom prst="rect">
            <a:avLst/>
          </a:prstGeom>
          <a:noFill/>
          <a:ln/>
        </p:spPr>
        <p:txBody>
          <a:bodyPr wrap="square" lIns="0" tIns="0" rIns="0" bIns="0" rtlCol="0" anchor="t"/>
          <a:lstStyle/>
          <a:p>
            <a:pPr indent="0" marL="0">
              <a:buNone/>
            </a:pPr>
            <a:r>
              <a:rPr lang="en-US" sz="1800" i="1" dirty="0">
                <a:solidFill>
                  <a:schemeClr val="bg2"/>
                </a:solidFill>
              </a:rPr>
              <a:t>Alerts in. Triaged, investigated, routed incidents out. Nothing changes without a human.</a:t>
            </a:r>
            <a:endParaRPr lang="en-US" sz="1800" dirty="0"/>
          </a:p>
        </p:txBody>
      </p:sp>
      <p:sp>
        <p:nvSpPr>
          <p:cNvPr id="7" name="repo"/>
          <p:cNvSpPr txBox="1"/>
          <p:nvPr/>
        </p:nvSpPr>
        <p:spPr>
          <a:xfrm>
            <a:off x="731520" y="6080760"/>
            <a:ext cx="7315200" cy="320040"/>
          </a:xfrm>
          <a:prstGeom prst="rect">
            <a:avLst/>
          </a:prstGeom>
          <a:noFill/>
          <a:ln/>
        </p:spPr>
        <p:txBody>
          <a:bodyPr wrap="square" lIns="0" tIns="0" rIns="0" bIns="0" rtlCol="0" anchor="t"/>
          <a:lstStyle/>
          <a:p>
            <a:pPr indent="0" marL="0">
              <a:buNone/>
            </a:pPr>
            <a:r>
              <a:rPr lang="en-US" sz="1200" dirty="0">
                <a:solidFill>
                  <a:schemeClr val="accent5"/>
                </a:solidFill>
              </a:rPr>
              <a:t>github.com/Shivathanu/ops-sentinel   ·   Apache 2.0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2 a.m.: a pipeline fails and the finance dashboard goes stale</a:t>
            </a:r>
            <a:endParaRPr lang="en-US" sz="3200" dirty="0"/>
          </a:p>
        </p:txBody>
      </p:sp>
      <p:sp>
        <p:nvSpPr>
          <p:cNvPr id="3" name="persona card"/>
          <p:cNvSpPr/>
          <p:nvPr/>
        </p:nvSpPr>
        <p:spPr>
          <a:xfrm>
            <a:off x="548640" y="1463040"/>
            <a:ext cx="3840480" cy="4480560"/>
          </a:xfrm>
          <a:prstGeom prst="roundRect">
            <a:avLst>
              <a:gd name="adj" fmla="val 2857"/>
            </a:avLst>
          </a:prstGeom>
          <a:solidFill>
            <a:schemeClr val="tx1"/>
          </a:solidFill>
          <a:ln/>
        </p:spPr>
      </p:sp>
      <p:sp>
        <p:nvSpPr>
          <p:cNvPr id="4" name="persona circle"/>
          <p:cNvSpPr/>
          <p:nvPr/>
        </p:nvSpPr>
        <p:spPr>
          <a:xfrm>
            <a:off x="868680" y="1783080"/>
            <a:ext cx="731520" cy="731520"/>
          </a:xfrm>
          <a:prstGeom prst="ellipse">
            <a:avLst/>
          </a:prstGeom>
          <a:solidFill>
            <a:schemeClr val="accent1"/>
          </a:solidFill>
          <a:ln/>
        </p:spPr>
      </p:sp>
      <p:pic>
        <p:nvPicPr>
          <p:cNvPr id="5" name="persona icon" descr="preencoded.png">    </p:cNvPr>
          <p:cNvPicPr>
            <a:picLocks noChangeAspect="1"/>
          </p:cNvPicPr>
          <p:nvPr/>
        </p:nvPicPr>
        <p:blipFill>
          <a:blip r:embed="rId1"/>
          <a:stretch>
            <a:fillRect/>
          </a:stretch>
        </p:blipFill>
        <p:spPr>
          <a:xfrm>
            <a:off x="1051560" y="1965960"/>
            <a:ext cx="365760" cy="365760"/>
          </a:xfrm>
          <a:prstGeom prst="rect">
            <a:avLst/>
          </a:prstGeom>
        </p:spPr>
      </p:pic>
      <p:sp>
        <p:nvSpPr>
          <p:cNvPr id="6" name="Text 3"/>
          <p:cNvSpPr txBox="1"/>
          <p:nvPr/>
        </p:nvSpPr>
        <p:spPr>
          <a:xfrm>
            <a:off x="868680" y="2743200"/>
            <a:ext cx="3200400" cy="365760"/>
          </a:xfrm>
          <a:prstGeom prst="rect">
            <a:avLst/>
          </a:prstGeom>
          <a:noFill/>
          <a:ln/>
        </p:spPr>
        <p:txBody>
          <a:bodyPr wrap="square" lIns="0" tIns="0" rIns="0" bIns="0" rtlCol="0" anchor="t"/>
          <a:lstStyle/>
          <a:p>
            <a:pPr indent="0" marL="0">
              <a:buNone/>
            </a:pPr>
            <a:r>
              <a:rPr lang="en-US" sz="1400" b="1" dirty="0">
                <a:solidFill>
                  <a:schemeClr val="accent1"/>
                </a:solidFill>
              </a:rPr>
              <a:t>Who has the problem</a:t>
            </a:r>
            <a:endParaRPr lang="en-US" sz="1400" dirty="0"/>
          </a:p>
        </p:txBody>
      </p:sp>
      <p:sp>
        <p:nvSpPr>
          <p:cNvPr id="7" name="Text 4"/>
          <p:cNvSpPr txBox="1"/>
          <p:nvPr/>
        </p:nvSpPr>
        <p:spPr>
          <a:xfrm>
            <a:off x="868680" y="3154680"/>
            <a:ext cx="3246120" cy="1463040"/>
          </a:xfrm>
          <a:prstGeom prst="rect">
            <a:avLst/>
          </a:prstGeom>
          <a:noFill/>
          <a:ln/>
        </p:spPr>
        <p:txBody>
          <a:bodyPr wrap="square" lIns="0" tIns="0" rIns="0" bIns="0" rtlCol="0" anchor="t"/>
          <a:lstStyle/>
          <a:p>
            <a:pPr indent="0" marL="0">
              <a:buNone/>
            </a:pPr>
            <a:r>
              <a:rPr lang="en-US" sz="1800" dirty="0">
                <a:solidFill>
                  <a:schemeClr val="bg1"/>
                </a:solidFill>
                <a:latin typeface="Cambria" pitchFamily="34" charset="0"/>
                <a:ea typeface="Cambria" pitchFamily="34" charset="-122"/>
                <a:cs typeface="Cambria" pitchFamily="34" charset="-120"/>
              </a:rPr>
              <a:t>Platform, data-engineering and on-call SRE teams at companies that make decisions on data pipelines.</a:t>
            </a:r>
            <a:endParaRPr lang="en-US" sz="1800" dirty="0"/>
          </a:p>
        </p:txBody>
      </p:sp>
      <p:sp>
        <p:nvSpPr>
          <p:cNvPr id="8" name="Text 5"/>
          <p:cNvSpPr txBox="1"/>
          <p:nvPr/>
        </p:nvSpPr>
        <p:spPr>
          <a:xfrm>
            <a:off x="868680" y="4663440"/>
            <a:ext cx="3246120" cy="1005840"/>
          </a:xfrm>
          <a:prstGeom prst="rect">
            <a:avLst/>
          </a:prstGeom>
          <a:noFill/>
          <a:ln/>
        </p:spPr>
        <p:txBody>
          <a:bodyPr wrap="square" lIns="0" tIns="0" rIns="0" bIns="0" rtlCol="0" anchor="t"/>
          <a:lstStyle/>
          <a:p>
            <a:pPr indent="0" marL="0">
              <a:buNone/>
            </a:pPr>
            <a:r>
              <a:rPr lang="en-US" sz="1300" dirty="0">
                <a:solidFill>
                  <a:schemeClr val="accent5"/>
                </a:solidFill>
              </a:rPr>
              <a:t>Nightly ETL into a warehouse, finance and executive dashboards, services that depend on fresh tables.</a:t>
            </a:r>
            <a:endParaRPr lang="en-US" sz="1300" dirty="0"/>
          </a:p>
        </p:txBody>
      </p:sp>
      <p:sp>
        <p:nvSpPr>
          <p:cNvPr id="9" name="pain 1 circle"/>
          <p:cNvSpPr/>
          <p:nvPr/>
        </p:nvSpPr>
        <p:spPr>
          <a:xfrm>
            <a:off x="4846320" y="1508760"/>
            <a:ext cx="640080" cy="640080"/>
          </a:xfrm>
          <a:prstGeom prst="ellipse">
            <a:avLst/>
          </a:prstGeom>
          <a:solidFill>
            <a:schemeClr val="accent1"/>
          </a:solidFill>
          <a:ln/>
        </p:spPr>
      </p:sp>
      <p:pic>
        <p:nvPicPr>
          <p:cNvPr id="10" name="pain 1 icon" descr="preencoded.png">    </p:cNvPr>
          <p:cNvPicPr>
            <a:picLocks noChangeAspect="1"/>
          </p:cNvPicPr>
          <p:nvPr/>
        </p:nvPicPr>
        <p:blipFill>
          <a:blip r:embed="rId2"/>
          <a:stretch>
            <a:fillRect/>
          </a:stretch>
        </p:blipFill>
        <p:spPr>
          <a:xfrm>
            <a:off x="5006340" y="1668780"/>
            <a:ext cx="320040" cy="320040"/>
          </a:xfrm>
          <a:prstGeom prst="rect">
            <a:avLst/>
          </a:prstGeom>
        </p:spPr>
      </p:pic>
      <p:sp>
        <p:nvSpPr>
          <p:cNvPr id="11" name="Text 7"/>
          <p:cNvSpPr txBox="1"/>
          <p:nvPr/>
        </p:nvSpPr>
        <p:spPr>
          <a:xfrm>
            <a:off x="5715000" y="1463040"/>
            <a:ext cx="5852160" cy="365760"/>
          </a:xfrm>
          <a:prstGeom prst="rect">
            <a:avLst/>
          </a:prstGeom>
          <a:noFill/>
          <a:ln/>
        </p:spPr>
        <p:txBody>
          <a:bodyPr wrap="square" lIns="0" tIns="0" rIns="0" bIns="0" rtlCol="0" anchor="t"/>
          <a:lstStyle/>
          <a:p>
            <a:pPr indent="0" marL="0">
              <a:buNone/>
            </a:pPr>
            <a:r>
              <a:rPr lang="en-US" sz="1800" b="1" dirty="0">
                <a:solidFill>
                  <a:schemeClr val="tx1"/>
                </a:solidFill>
              </a:rPr>
              <a:t>Alerts everywhere</a:t>
            </a:r>
            <a:endParaRPr lang="en-US" sz="1800" dirty="0"/>
          </a:p>
        </p:txBody>
      </p:sp>
      <p:sp>
        <p:nvSpPr>
          <p:cNvPr id="12" name="Text 8"/>
          <p:cNvSpPr txBox="1"/>
          <p:nvPr/>
        </p:nvSpPr>
        <p:spPr>
          <a:xfrm>
            <a:off x="5715000" y="1847088"/>
            <a:ext cx="5852160" cy="640080"/>
          </a:xfrm>
          <a:prstGeom prst="rect">
            <a:avLst/>
          </a:prstGeom>
          <a:noFill/>
          <a:ln/>
        </p:spPr>
        <p:txBody>
          <a:bodyPr wrap="square" lIns="0" tIns="0" rIns="0" bIns="0" rtlCol="0" anchor="t"/>
          <a:lstStyle/>
          <a:p>
            <a:pPr indent="0" marL="0">
              <a:buNone/>
            </a:pPr>
            <a:r>
              <a:rPr lang="en-US" sz="1400" dirty="0">
                <a:solidFill>
                  <a:schemeClr val="tx2"/>
                </a:solidFill>
              </a:rPr>
              <a:t>Prometheus, Grafana, CI and cron all fire, and they repeat. Which one matters?</a:t>
            </a:r>
            <a:endParaRPr lang="en-US" sz="1400" dirty="0"/>
          </a:p>
        </p:txBody>
      </p:sp>
      <p:sp>
        <p:nvSpPr>
          <p:cNvPr id="13" name="pain 2 circle"/>
          <p:cNvSpPr/>
          <p:nvPr/>
        </p:nvSpPr>
        <p:spPr>
          <a:xfrm>
            <a:off x="4846320" y="2651760"/>
            <a:ext cx="640080" cy="640080"/>
          </a:xfrm>
          <a:prstGeom prst="ellipse">
            <a:avLst/>
          </a:prstGeom>
          <a:solidFill>
            <a:schemeClr val="accent1"/>
          </a:solidFill>
          <a:ln/>
        </p:spPr>
      </p:sp>
      <p:pic>
        <p:nvPicPr>
          <p:cNvPr id="14" name="pain 2 icon" descr="preencoded.png">    </p:cNvPr>
          <p:cNvPicPr>
            <a:picLocks noChangeAspect="1"/>
          </p:cNvPicPr>
          <p:nvPr/>
        </p:nvPicPr>
        <p:blipFill>
          <a:blip r:embed="rId3"/>
          <a:stretch>
            <a:fillRect/>
          </a:stretch>
        </p:blipFill>
        <p:spPr>
          <a:xfrm>
            <a:off x="5006340" y="2811780"/>
            <a:ext cx="320040" cy="320040"/>
          </a:xfrm>
          <a:prstGeom prst="rect">
            <a:avLst/>
          </a:prstGeom>
        </p:spPr>
      </p:pic>
      <p:sp>
        <p:nvSpPr>
          <p:cNvPr id="15" name="Text 10"/>
          <p:cNvSpPr txBox="1"/>
          <p:nvPr/>
        </p:nvSpPr>
        <p:spPr>
          <a:xfrm>
            <a:off x="5715000" y="2606040"/>
            <a:ext cx="5852160" cy="365760"/>
          </a:xfrm>
          <a:prstGeom prst="rect">
            <a:avLst/>
          </a:prstGeom>
          <a:noFill/>
          <a:ln/>
        </p:spPr>
        <p:txBody>
          <a:bodyPr wrap="square" lIns="0" tIns="0" rIns="0" bIns="0" rtlCol="0" anchor="t"/>
          <a:lstStyle/>
          <a:p>
            <a:pPr indent="0" marL="0">
              <a:buNone/>
            </a:pPr>
            <a:r>
              <a:rPr lang="en-US" sz="1800" b="1" dirty="0">
                <a:solidFill>
                  <a:schemeClr val="tx1"/>
                </a:solidFill>
              </a:rPr>
              <a:t>Investigation by hand</a:t>
            </a:r>
            <a:endParaRPr lang="en-US" sz="1800" dirty="0"/>
          </a:p>
        </p:txBody>
      </p:sp>
      <p:sp>
        <p:nvSpPr>
          <p:cNvPr id="16" name="Text 11"/>
          <p:cNvSpPr txBox="1"/>
          <p:nvPr/>
        </p:nvSpPr>
        <p:spPr>
          <a:xfrm>
            <a:off x="5715000" y="2990088"/>
            <a:ext cx="5852160" cy="640080"/>
          </a:xfrm>
          <a:prstGeom prst="rect">
            <a:avLst/>
          </a:prstGeom>
          <a:noFill/>
          <a:ln/>
        </p:spPr>
        <p:txBody>
          <a:bodyPr wrap="square" lIns="0" tIns="0" rIns="0" bIns="0" rtlCol="0" anchor="t"/>
          <a:lstStyle/>
          <a:p>
            <a:pPr indent="0" marL="0">
              <a:buNone/>
            </a:pPr>
            <a:r>
              <a:rPr lang="en-US" sz="1400" dirty="0">
                <a:solidFill>
                  <a:schemeClr val="tx2"/>
                </a:solidFill>
              </a:rPr>
              <a:t>Read logs, query the warehouse, trace lineage, look for the last time it happened.</a:t>
            </a:r>
            <a:endParaRPr lang="en-US" sz="1400" dirty="0"/>
          </a:p>
        </p:txBody>
      </p:sp>
      <p:sp>
        <p:nvSpPr>
          <p:cNvPr id="17" name="pain 3 circle"/>
          <p:cNvSpPr/>
          <p:nvPr/>
        </p:nvSpPr>
        <p:spPr>
          <a:xfrm>
            <a:off x="4846320" y="3794760"/>
            <a:ext cx="640080" cy="640080"/>
          </a:xfrm>
          <a:prstGeom prst="ellipse">
            <a:avLst/>
          </a:prstGeom>
          <a:solidFill>
            <a:schemeClr val="accent1"/>
          </a:solidFill>
          <a:ln/>
        </p:spPr>
      </p:sp>
      <p:pic>
        <p:nvPicPr>
          <p:cNvPr id="18" name="pain 3 icon" descr="preencoded.png">    </p:cNvPr>
          <p:cNvPicPr>
            <a:picLocks noChangeAspect="1"/>
          </p:cNvPicPr>
          <p:nvPr/>
        </p:nvPicPr>
        <p:blipFill>
          <a:blip r:embed="rId4"/>
          <a:stretch>
            <a:fillRect/>
          </a:stretch>
        </p:blipFill>
        <p:spPr>
          <a:xfrm>
            <a:off x="5006340" y="3954780"/>
            <a:ext cx="320040" cy="320040"/>
          </a:xfrm>
          <a:prstGeom prst="rect">
            <a:avLst/>
          </a:prstGeom>
        </p:spPr>
      </p:pic>
      <p:sp>
        <p:nvSpPr>
          <p:cNvPr id="19" name="Text 13"/>
          <p:cNvSpPr txBox="1"/>
          <p:nvPr/>
        </p:nvSpPr>
        <p:spPr>
          <a:xfrm>
            <a:off x="5715000" y="3749040"/>
            <a:ext cx="5852160" cy="365760"/>
          </a:xfrm>
          <a:prstGeom prst="rect">
            <a:avLst/>
          </a:prstGeom>
          <a:noFill/>
          <a:ln/>
        </p:spPr>
        <p:txBody>
          <a:bodyPr wrap="square" lIns="0" tIns="0" rIns="0" bIns="0" rtlCol="0" anchor="t"/>
          <a:lstStyle/>
          <a:p>
            <a:pPr indent="0" marL="0">
              <a:buNone/>
            </a:pPr>
            <a:r>
              <a:rPr lang="en-US" sz="1800" b="1" dirty="0">
                <a:solidFill>
                  <a:schemeClr val="tx1"/>
                </a:solidFill>
              </a:rPr>
              <a:t>Stale numbers reach decision-makers</a:t>
            </a:r>
            <a:endParaRPr lang="en-US" sz="1800" dirty="0"/>
          </a:p>
        </p:txBody>
      </p:sp>
      <p:sp>
        <p:nvSpPr>
          <p:cNvPr id="20" name="Text 14"/>
          <p:cNvSpPr txBox="1"/>
          <p:nvPr/>
        </p:nvSpPr>
        <p:spPr>
          <a:xfrm>
            <a:off x="5715000" y="4133088"/>
            <a:ext cx="5852160" cy="640080"/>
          </a:xfrm>
          <a:prstGeom prst="rect">
            <a:avLst/>
          </a:prstGeom>
          <a:noFill/>
          <a:ln/>
        </p:spPr>
        <p:txBody>
          <a:bodyPr wrap="square" lIns="0" tIns="0" rIns="0" bIns="0" rtlCol="0" anchor="t"/>
          <a:lstStyle/>
          <a:p>
            <a:pPr indent="0" marL="0">
              <a:buNone/>
            </a:pPr>
            <a:r>
              <a:rPr lang="en-US" sz="1400" dirty="0">
                <a:solidFill>
                  <a:schemeClr val="tx2"/>
                </a:solidFill>
              </a:rPr>
              <a:t>The morning dashboard is already wrong before anyone notices.</a:t>
            </a:r>
            <a:endParaRPr lang="en-US" sz="1400" dirty="0"/>
          </a:p>
        </p:txBody>
      </p:sp>
      <p:sp>
        <p:nvSpPr>
          <p:cNvPr id="21" name="pain 4 circle"/>
          <p:cNvSpPr/>
          <p:nvPr/>
        </p:nvSpPr>
        <p:spPr>
          <a:xfrm>
            <a:off x="4846320" y="4937760"/>
            <a:ext cx="640080" cy="640080"/>
          </a:xfrm>
          <a:prstGeom prst="ellipse">
            <a:avLst/>
          </a:prstGeom>
          <a:solidFill>
            <a:schemeClr val="accent1"/>
          </a:solidFill>
          <a:ln/>
        </p:spPr>
      </p:sp>
      <p:pic>
        <p:nvPicPr>
          <p:cNvPr id="22" name="pain 4 icon" descr="preencoded.png">    </p:cNvPr>
          <p:cNvPicPr>
            <a:picLocks noChangeAspect="1"/>
          </p:cNvPicPr>
          <p:nvPr/>
        </p:nvPicPr>
        <p:blipFill>
          <a:blip r:embed="rId5"/>
          <a:stretch>
            <a:fillRect/>
          </a:stretch>
        </p:blipFill>
        <p:spPr>
          <a:xfrm>
            <a:off x="5006340" y="5097780"/>
            <a:ext cx="320040" cy="320040"/>
          </a:xfrm>
          <a:prstGeom prst="rect">
            <a:avLst/>
          </a:prstGeom>
        </p:spPr>
      </p:pic>
      <p:sp>
        <p:nvSpPr>
          <p:cNvPr id="23" name="Text 16"/>
          <p:cNvSpPr txBox="1"/>
          <p:nvPr/>
        </p:nvSpPr>
        <p:spPr>
          <a:xfrm>
            <a:off x="5715000" y="4892040"/>
            <a:ext cx="5852160" cy="365760"/>
          </a:xfrm>
          <a:prstGeom prst="rect">
            <a:avLst/>
          </a:prstGeom>
          <a:noFill/>
          <a:ln/>
        </p:spPr>
        <p:txBody>
          <a:bodyPr wrap="square" lIns="0" tIns="0" rIns="0" bIns="0" rtlCol="0" anchor="t"/>
          <a:lstStyle/>
          <a:p>
            <a:pPr indent="0" marL="0">
              <a:buNone/>
            </a:pPr>
            <a:r>
              <a:rPr lang="en-US" sz="1800" b="1" dirty="0">
                <a:solidFill>
                  <a:schemeClr val="tx1"/>
                </a:solidFill>
              </a:rPr>
              <a:t>Risky fixes</a:t>
            </a:r>
            <a:endParaRPr lang="en-US" sz="1800" dirty="0"/>
          </a:p>
        </p:txBody>
      </p:sp>
      <p:sp>
        <p:nvSpPr>
          <p:cNvPr id="24" name="Text 17"/>
          <p:cNvSpPr txBox="1"/>
          <p:nvPr/>
        </p:nvSpPr>
        <p:spPr>
          <a:xfrm>
            <a:off x="5715000" y="5276088"/>
            <a:ext cx="5852160" cy="640080"/>
          </a:xfrm>
          <a:prstGeom prst="rect">
            <a:avLst/>
          </a:prstGeom>
          <a:noFill/>
          <a:ln/>
        </p:spPr>
        <p:txBody>
          <a:bodyPr wrap="square" lIns="0" tIns="0" rIns="0" bIns="0" rtlCol="0" anchor="t"/>
          <a:lstStyle/>
          <a:p>
            <a:pPr indent="0" marL="0">
              <a:buNone/>
            </a:pPr>
            <a:r>
              <a:rPr lang="en-US" sz="1400" dirty="0">
                <a:solidFill>
                  <a:schemeClr val="tx2"/>
                </a:solidFill>
              </a:rPr>
              <a:t>Alone, at night, with admin credentials and no record of why.</a:t>
            </a: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Why it matters: trust, time, money and risk</a:t>
            </a:r>
            <a:endParaRPr lang="en-US" sz="3200" dirty="0"/>
          </a:p>
        </p:txBody>
      </p:sp>
      <p:sp>
        <p:nvSpPr>
          <p:cNvPr id="3" name="stake 1"/>
          <p:cNvSpPr/>
          <p:nvPr/>
        </p:nvSpPr>
        <p:spPr>
          <a:xfrm>
            <a:off x="548640" y="1554480"/>
            <a:ext cx="2606040" cy="3749040"/>
          </a:xfrm>
          <a:prstGeom prst="roundRect">
            <a:avLst>
              <a:gd name="adj" fmla="val 4211"/>
            </a:avLst>
          </a:prstGeom>
          <a:solidFill>
            <a:schemeClr val="bg2"/>
          </a:solidFill>
          <a:ln/>
        </p:spPr>
      </p:sp>
      <p:sp>
        <p:nvSpPr>
          <p:cNvPr id="4" name="stake 1 circle"/>
          <p:cNvSpPr/>
          <p:nvPr/>
        </p:nvSpPr>
        <p:spPr>
          <a:xfrm>
            <a:off x="868680" y="1874520"/>
            <a:ext cx="731520" cy="731520"/>
          </a:xfrm>
          <a:prstGeom prst="ellipse">
            <a:avLst/>
          </a:prstGeom>
          <a:solidFill>
            <a:schemeClr val="accent1"/>
          </a:solidFill>
          <a:ln/>
        </p:spPr>
      </p:sp>
      <p:pic>
        <p:nvPicPr>
          <p:cNvPr id="5" name="stake 1 icon" descr="preencoded.png">    </p:cNvPr>
          <p:cNvPicPr>
            <a:picLocks noChangeAspect="1"/>
          </p:cNvPicPr>
          <p:nvPr/>
        </p:nvPicPr>
        <p:blipFill>
          <a:blip r:embed="rId1"/>
          <a:stretch>
            <a:fillRect/>
          </a:stretch>
        </p:blipFill>
        <p:spPr>
          <a:xfrm>
            <a:off x="1051560" y="2057400"/>
            <a:ext cx="365760" cy="365760"/>
          </a:xfrm>
          <a:prstGeom prst="rect">
            <a:avLst/>
          </a:prstGeom>
        </p:spPr>
      </p:pic>
      <p:sp>
        <p:nvSpPr>
          <p:cNvPr id="6" name="Text 3"/>
          <p:cNvSpPr txBox="1"/>
          <p:nvPr/>
        </p:nvSpPr>
        <p:spPr>
          <a:xfrm>
            <a:off x="868680" y="2834640"/>
            <a:ext cx="2011680" cy="64008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Trust</a:t>
            </a:r>
            <a:endParaRPr lang="en-US" sz="3000" dirty="0"/>
          </a:p>
        </p:txBody>
      </p:sp>
      <p:sp>
        <p:nvSpPr>
          <p:cNvPr id="7" name="Text 4"/>
          <p:cNvSpPr txBox="1"/>
          <p:nvPr/>
        </p:nvSpPr>
        <p:spPr>
          <a:xfrm>
            <a:off x="868680" y="3566160"/>
            <a:ext cx="2011680" cy="2011680"/>
          </a:xfrm>
          <a:prstGeom prst="rect">
            <a:avLst/>
          </a:prstGeom>
          <a:noFill/>
          <a:ln/>
        </p:spPr>
        <p:txBody>
          <a:bodyPr wrap="square" lIns="0" tIns="0" rIns="0" bIns="0" rtlCol="0" anchor="t"/>
          <a:lstStyle/>
          <a:p>
            <a:pPr indent="0" marL="0">
              <a:buNone/>
            </a:pPr>
            <a:r>
              <a:rPr lang="en-US" sz="1400" dirty="0">
                <a:solidFill>
                  <a:schemeClr val="tx2"/>
                </a:solidFill>
              </a:rPr>
              <a:t>Decisions are made on stale data, and confidence in the data platform erodes.</a:t>
            </a:r>
            <a:endParaRPr lang="en-US" sz="1400" dirty="0"/>
          </a:p>
        </p:txBody>
      </p:sp>
      <p:sp>
        <p:nvSpPr>
          <p:cNvPr id="8" name="stake 2"/>
          <p:cNvSpPr/>
          <p:nvPr/>
        </p:nvSpPr>
        <p:spPr>
          <a:xfrm>
            <a:off x="3364992" y="1554480"/>
            <a:ext cx="2606040" cy="3749040"/>
          </a:xfrm>
          <a:prstGeom prst="roundRect">
            <a:avLst>
              <a:gd name="adj" fmla="val 4211"/>
            </a:avLst>
          </a:prstGeom>
          <a:solidFill>
            <a:schemeClr val="bg2"/>
          </a:solidFill>
          <a:ln/>
        </p:spPr>
      </p:sp>
      <p:sp>
        <p:nvSpPr>
          <p:cNvPr id="9" name="stake 2 circle"/>
          <p:cNvSpPr/>
          <p:nvPr/>
        </p:nvSpPr>
        <p:spPr>
          <a:xfrm>
            <a:off x="3685032" y="1874520"/>
            <a:ext cx="731520" cy="731520"/>
          </a:xfrm>
          <a:prstGeom prst="ellipse">
            <a:avLst/>
          </a:prstGeom>
          <a:solidFill>
            <a:schemeClr val="accent1"/>
          </a:solidFill>
          <a:ln/>
        </p:spPr>
      </p:sp>
      <p:pic>
        <p:nvPicPr>
          <p:cNvPr id="10" name="stake 2 icon" descr="preencoded.png">    </p:cNvPr>
          <p:cNvPicPr>
            <a:picLocks noChangeAspect="1"/>
          </p:cNvPicPr>
          <p:nvPr/>
        </p:nvPicPr>
        <p:blipFill>
          <a:blip r:embed="rId2"/>
          <a:stretch>
            <a:fillRect/>
          </a:stretch>
        </p:blipFill>
        <p:spPr>
          <a:xfrm>
            <a:off x="3867912" y="2057400"/>
            <a:ext cx="365760" cy="365760"/>
          </a:xfrm>
          <a:prstGeom prst="rect">
            <a:avLst/>
          </a:prstGeom>
        </p:spPr>
      </p:pic>
      <p:sp>
        <p:nvSpPr>
          <p:cNvPr id="11" name="Text 7"/>
          <p:cNvSpPr txBox="1"/>
          <p:nvPr/>
        </p:nvSpPr>
        <p:spPr>
          <a:xfrm>
            <a:off x="3685032" y="2834640"/>
            <a:ext cx="2011680" cy="64008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Time</a:t>
            </a:r>
            <a:endParaRPr lang="en-US" sz="3000" dirty="0"/>
          </a:p>
        </p:txBody>
      </p:sp>
      <p:sp>
        <p:nvSpPr>
          <p:cNvPr id="12" name="Text 8"/>
          <p:cNvSpPr txBox="1"/>
          <p:nvPr/>
        </p:nvSpPr>
        <p:spPr>
          <a:xfrm>
            <a:off x="3685032" y="3566160"/>
            <a:ext cx="2011680" cy="2011680"/>
          </a:xfrm>
          <a:prstGeom prst="rect">
            <a:avLst/>
          </a:prstGeom>
          <a:noFill/>
          <a:ln/>
        </p:spPr>
        <p:txBody>
          <a:bodyPr wrap="square" lIns="0" tIns="0" rIns="0" bIns="0" rtlCol="0" anchor="t"/>
          <a:lstStyle/>
          <a:p>
            <a:pPr indent="0" marL="0">
              <a:buNone/>
            </a:pPr>
            <a:r>
              <a:rPr lang="en-US" sz="1400" dirty="0">
                <a:solidFill>
                  <a:schemeClr val="tx2"/>
                </a:solidFill>
              </a:rPr>
              <a:t>Resolution time goes to investigating. Repeats are investigated from scratch, because the lessons live in someone's head.</a:t>
            </a:r>
            <a:endParaRPr lang="en-US" sz="1400" dirty="0"/>
          </a:p>
        </p:txBody>
      </p:sp>
      <p:sp>
        <p:nvSpPr>
          <p:cNvPr id="13" name="stake 3"/>
          <p:cNvSpPr/>
          <p:nvPr/>
        </p:nvSpPr>
        <p:spPr>
          <a:xfrm>
            <a:off x="6181344" y="1554480"/>
            <a:ext cx="2606040" cy="3749040"/>
          </a:xfrm>
          <a:prstGeom prst="roundRect">
            <a:avLst>
              <a:gd name="adj" fmla="val 4211"/>
            </a:avLst>
          </a:prstGeom>
          <a:solidFill>
            <a:schemeClr val="bg2"/>
          </a:solidFill>
          <a:ln/>
        </p:spPr>
      </p:sp>
      <p:sp>
        <p:nvSpPr>
          <p:cNvPr id="14" name="stake 3 circle"/>
          <p:cNvSpPr/>
          <p:nvPr/>
        </p:nvSpPr>
        <p:spPr>
          <a:xfrm>
            <a:off x="6501384" y="1874520"/>
            <a:ext cx="731520" cy="731520"/>
          </a:xfrm>
          <a:prstGeom prst="ellipse">
            <a:avLst/>
          </a:prstGeom>
          <a:solidFill>
            <a:schemeClr val="accent1"/>
          </a:solidFill>
          <a:ln/>
        </p:spPr>
      </p:sp>
      <p:pic>
        <p:nvPicPr>
          <p:cNvPr id="15" name="stake 3 icon" descr="preencoded.png">    </p:cNvPr>
          <p:cNvPicPr>
            <a:picLocks noChangeAspect="1"/>
          </p:cNvPicPr>
          <p:nvPr/>
        </p:nvPicPr>
        <p:blipFill>
          <a:blip r:embed="rId3"/>
          <a:stretch>
            <a:fillRect/>
          </a:stretch>
        </p:blipFill>
        <p:spPr>
          <a:xfrm>
            <a:off x="6684264" y="2057400"/>
            <a:ext cx="365760" cy="365760"/>
          </a:xfrm>
          <a:prstGeom prst="rect">
            <a:avLst/>
          </a:prstGeom>
        </p:spPr>
      </p:pic>
      <p:sp>
        <p:nvSpPr>
          <p:cNvPr id="16" name="Text 11"/>
          <p:cNvSpPr txBox="1"/>
          <p:nvPr/>
        </p:nvSpPr>
        <p:spPr>
          <a:xfrm>
            <a:off x="6501384" y="2834640"/>
            <a:ext cx="2011680" cy="64008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Money</a:t>
            </a:r>
            <a:endParaRPr lang="en-US" sz="3000" dirty="0"/>
          </a:p>
        </p:txBody>
      </p:sp>
      <p:sp>
        <p:nvSpPr>
          <p:cNvPr id="17" name="Text 12"/>
          <p:cNvSpPr txBox="1"/>
          <p:nvPr/>
        </p:nvSpPr>
        <p:spPr>
          <a:xfrm>
            <a:off x="6501384" y="3566160"/>
            <a:ext cx="2011680" cy="2011680"/>
          </a:xfrm>
          <a:prstGeom prst="rect">
            <a:avLst/>
          </a:prstGeom>
          <a:noFill/>
          <a:ln/>
        </p:spPr>
        <p:txBody>
          <a:bodyPr wrap="square" lIns="0" tIns="0" rIns="0" bIns="0" rtlCol="0" anchor="t"/>
          <a:lstStyle/>
          <a:p>
            <a:pPr indent="0" marL="0">
              <a:buNone/>
            </a:pPr>
            <a:r>
              <a:rPr lang="en-US" sz="1400" dirty="0">
                <a:solidFill>
                  <a:schemeClr val="tx2"/>
                </a:solidFill>
              </a:rPr>
              <a:t>Runaway queries burn compute for hours before a person looks.</a:t>
            </a:r>
            <a:endParaRPr lang="en-US" sz="1400" dirty="0"/>
          </a:p>
        </p:txBody>
      </p:sp>
      <p:sp>
        <p:nvSpPr>
          <p:cNvPr id="18" name="stake 4"/>
          <p:cNvSpPr/>
          <p:nvPr/>
        </p:nvSpPr>
        <p:spPr>
          <a:xfrm>
            <a:off x="8997696" y="1554480"/>
            <a:ext cx="2606040" cy="3749040"/>
          </a:xfrm>
          <a:prstGeom prst="roundRect">
            <a:avLst>
              <a:gd name="adj" fmla="val 4211"/>
            </a:avLst>
          </a:prstGeom>
          <a:solidFill>
            <a:schemeClr val="bg2"/>
          </a:solidFill>
          <a:ln/>
        </p:spPr>
      </p:sp>
      <p:sp>
        <p:nvSpPr>
          <p:cNvPr id="19" name="stake 4 circle"/>
          <p:cNvSpPr/>
          <p:nvPr/>
        </p:nvSpPr>
        <p:spPr>
          <a:xfrm>
            <a:off x="9317736" y="1874520"/>
            <a:ext cx="731520" cy="731520"/>
          </a:xfrm>
          <a:prstGeom prst="ellipse">
            <a:avLst/>
          </a:prstGeom>
          <a:solidFill>
            <a:schemeClr val="accent1"/>
          </a:solidFill>
          <a:ln/>
        </p:spPr>
      </p:sp>
      <p:pic>
        <p:nvPicPr>
          <p:cNvPr id="20" name="stake 4 icon" descr="preencoded.png">    </p:cNvPr>
          <p:cNvPicPr>
            <a:picLocks noChangeAspect="1"/>
          </p:cNvPicPr>
          <p:nvPr/>
        </p:nvPicPr>
        <p:blipFill>
          <a:blip r:embed="rId4"/>
          <a:stretch>
            <a:fillRect/>
          </a:stretch>
        </p:blipFill>
        <p:spPr>
          <a:xfrm>
            <a:off x="9500616" y="2057400"/>
            <a:ext cx="365760" cy="365760"/>
          </a:xfrm>
          <a:prstGeom prst="rect">
            <a:avLst/>
          </a:prstGeom>
        </p:spPr>
      </p:pic>
      <p:sp>
        <p:nvSpPr>
          <p:cNvPr id="21" name="Text 15"/>
          <p:cNvSpPr txBox="1"/>
          <p:nvPr/>
        </p:nvSpPr>
        <p:spPr>
          <a:xfrm>
            <a:off x="9317736" y="2834640"/>
            <a:ext cx="2011680" cy="64008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Risk</a:t>
            </a:r>
            <a:endParaRPr lang="en-US" sz="3000" dirty="0"/>
          </a:p>
        </p:txBody>
      </p:sp>
      <p:sp>
        <p:nvSpPr>
          <p:cNvPr id="22" name="Text 16"/>
          <p:cNvSpPr txBox="1"/>
          <p:nvPr/>
        </p:nvSpPr>
        <p:spPr>
          <a:xfrm>
            <a:off x="9317736" y="3566160"/>
            <a:ext cx="2011680" cy="2011680"/>
          </a:xfrm>
          <a:prstGeom prst="rect">
            <a:avLst/>
          </a:prstGeom>
          <a:noFill/>
          <a:ln/>
        </p:spPr>
        <p:txBody>
          <a:bodyPr wrap="square" lIns="0" tIns="0" rIns="0" bIns="0" rtlCol="0" anchor="t"/>
          <a:lstStyle/>
          <a:p>
            <a:pPr indent="0" marL="0">
              <a:buNone/>
            </a:pPr>
            <a:r>
              <a:rPr lang="en-US" sz="1400" dirty="0">
                <a:solidFill>
                  <a:schemeClr val="tx2"/>
                </a:solidFill>
              </a:rPr>
              <a:t>Letting a script or a model “just fix it” with production credentials makes outages worse.</a:t>
            </a:r>
            <a:endParaRPr lang="en-US" sz="1400" dirty="0"/>
          </a:p>
        </p:txBody>
      </p:sp>
      <p:sp>
        <p:nvSpPr>
          <p:cNvPr id="23" name="Text 17"/>
          <p:cNvSpPr txBox="1"/>
          <p:nvPr/>
        </p:nvSpPr>
        <p:spPr>
          <a:xfrm>
            <a:off x="548640" y="5577840"/>
            <a:ext cx="10972800" cy="365760"/>
          </a:xfrm>
          <a:prstGeom prst="rect">
            <a:avLst/>
          </a:prstGeom>
          <a:noFill/>
          <a:ln/>
        </p:spPr>
        <p:txBody>
          <a:bodyPr wrap="square" lIns="0" tIns="0" rIns="0" bIns="0" rtlCol="0" anchor="t"/>
          <a:lstStyle/>
          <a:p>
            <a:pPr indent="0" marL="0">
              <a:buNone/>
            </a:pPr>
            <a:r>
              <a:rPr lang="en-US" sz="1600" i="1" dirty="0">
                <a:solidFill>
                  <a:schemeClr val="accent4"/>
                </a:solidFill>
              </a:rPr>
              <a:t>Teams need speed and control at the same time.</a:t>
            </a:r>
            <a:endParaRPr lang="en-US" sz="16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An AI SRE team that investigates, routes and asks first</a:t>
            </a:r>
            <a:endParaRPr lang="en-US" sz="3200" dirty="0"/>
          </a:p>
        </p:txBody>
      </p:sp>
      <p:sp>
        <p:nvSpPr>
          <p:cNvPr id="3" name="pillar 1"/>
          <p:cNvSpPr/>
          <p:nvPr/>
        </p:nvSpPr>
        <p:spPr>
          <a:xfrm>
            <a:off x="548640" y="1463040"/>
            <a:ext cx="3520440" cy="3383280"/>
          </a:xfrm>
          <a:prstGeom prst="roundRect">
            <a:avLst>
              <a:gd name="adj" fmla="val 3243"/>
            </a:avLst>
          </a:prstGeom>
          <a:solidFill>
            <a:schemeClr val="bg2"/>
          </a:solidFill>
          <a:ln/>
        </p:spPr>
      </p:sp>
      <p:sp>
        <p:nvSpPr>
          <p:cNvPr id="4" name="pillar 1 circle"/>
          <p:cNvSpPr/>
          <p:nvPr/>
        </p:nvSpPr>
        <p:spPr>
          <a:xfrm>
            <a:off x="868680" y="1737360"/>
            <a:ext cx="685800" cy="685800"/>
          </a:xfrm>
          <a:prstGeom prst="ellipse">
            <a:avLst/>
          </a:prstGeom>
          <a:solidFill>
            <a:schemeClr val="accent1"/>
          </a:solidFill>
          <a:ln/>
        </p:spPr>
      </p:sp>
      <p:pic>
        <p:nvPicPr>
          <p:cNvPr id="5" name="pillar 1 icon" descr="preencoded.png">    </p:cNvPr>
          <p:cNvPicPr>
            <a:picLocks noChangeAspect="1"/>
          </p:cNvPicPr>
          <p:nvPr/>
        </p:nvPicPr>
        <p:blipFill>
          <a:blip r:embed="rId1"/>
          <a:stretch>
            <a:fillRect/>
          </a:stretch>
        </p:blipFill>
        <p:spPr>
          <a:xfrm>
            <a:off x="1040130" y="1908810"/>
            <a:ext cx="342900" cy="342900"/>
          </a:xfrm>
          <a:prstGeom prst="rect">
            <a:avLst/>
          </a:prstGeom>
        </p:spPr>
      </p:pic>
      <p:sp>
        <p:nvSpPr>
          <p:cNvPr id="6" name="Text 3"/>
          <p:cNvSpPr txBox="1"/>
          <p:nvPr/>
        </p:nvSpPr>
        <p:spPr>
          <a:xfrm>
            <a:off x="1691640" y="1828800"/>
            <a:ext cx="2240280" cy="502920"/>
          </a:xfrm>
          <a:prstGeom prst="rect">
            <a:avLst/>
          </a:prstGeom>
          <a:noFill/>
          <a:ln/>
        </p:spPr>
        <p:txBody>
          <a:bodyPr wrap="square" lIns="0" tIns="0" rIns="0" bIns="0" rtlCol="0" anchor="ctr"/>
          <a:lstStyle/>
          <a:p>
            <a:pPr indent="0" marL="0">
              <a:buNone/>
            </a:pPr>
            <a:r>
              <a:rPr lang="en-US" sz="2000" b="1" dirty="0">
                <a:solidFill>
                  <a:schemeClr val="tx1"/>
                </a:solidFill>
              </a:rPr>
              <a:t>Understand</a:t>
            </a:r>
            <a:endParaRPr lang="en-US" sz="2000" dirty="0"/>
          </a:p>
        </p:txBody>
      </p:sp>
      <p:sp>
        <p:nvSpPr>
          <p:cNvPr id="7" name="Text 4"/>
          <p:cNvSpPr txBox="1"/>
          <p:nvPr/>
        </p:nvSpPr>
        <p:spPr>
          <a:xfrm>
            <a:off x="868680" y="2697480"/>
            <a:ext cx="297180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Groups duplicate alerts into one incident</a:t>
            </a:r>
            <a:endParaRPr lang="en-US" sz="1500" dirty="0"/>
          </a:p>
          <a:p>
            <a:pPr marL="342900" indent="-342900">
              <a:spcAft>
                <a:spcPts val="800"/>
              </a:spcAft>
              <a:buSzPct val="100000"/>
              <a:buChar char="•"/>
            </a:pPr>
            <a:r>
              <a:rPr lang="en-US" sz="1500" dirty="0">
                <a:solidFill>
                  <a:schemeClr val="tx2"/>
                </a:solidFill>
              </a:rPr>
              <a:t>Agents triage and investigate with read-only tools</a:t>
            </a:r>
            <a:endParaRPr lang="en-US" sz="1500" dirty="0"/>
          </a:p>
          <a:p>
            <a:pPr marL="342900" indent="-342900">
              <a:spcAft>
                <a:spcPts val="800"/>
              </a:spcAft>
              <a:buSzPct val="100000"/>
              <a:buChar char="•"/>
            </a:pPr>
            <a:r>
              <a:rPr lang="en-US" sz="1500" dirty="0">
                <a:solidFill>
                  <a:schemeClr val="tx2"/>
                </a:solidFill>
              </a:rPr>
              <a:t>Explains impact and root cause, with evidence</a:t>
            </a:r>
            <a:endParaRPr lang="en-US" sz="1500" dirty="0"/>
          </a:p>
        </p:txBody>
      </p:sp>
      <p:sp>
        <p:nvSpPr>
          <p:cNvPr id="8" name="pillar 2"/>
          <p:cNvSpPr/>
          <p:nvPr/>
        </p:nvSpPr>
        <p:spPr>
          <a:xfrm>
            <a:off x="4297680" y="1463040"/>
            <a:ext cx="3520440" cy="3383280"/>
          </a:xfrm>
          <a:prstGeom prst="roundRect">
            <a:avLst>
              <a:gd name="adj" fmla="val 3243"/>
            </a:avLst>
          </a:prstGeom>
          <a:solidFill>
            <a:schemeClr val="bg2"/>
          </a:solidFill>
          <a:ln/>
        </p:spPr>
      </p:sp>
      <p:sp>
        <p:nvSpPr>
          <p:cNvPr id="9" name="pillar 2 circle"/>
          <p:cNvSpPr/>
          <p:nvPr/>
        </p:nvSpPr>
        <p:spPr>
          <a:xfrm>
            <a:off x="4617720" y="1737360"/>
            <a:ext cx="685800" cy="685800"/>
          </a:xfrm>
          <a:prstGeom prst="ellipse">
            <a:avLst/>
          </a:prstGeom>
          <a:solidFill>
            <a:schemeClr val="accent1"/>
          </a:solidFill>
          <a:ln/>
        </p:spPr>
      </p:sp>
      <p:pic>
        <p:nvPicPr>
          <p:cNvPr id="10" name="pillar 2 icon" descr="preencoded.png">    </p:cNvPr>
          <p:cNvPicPr>
            <a:picLocks noChangeAspect="1"/>
          </p:cNvPicPr>
          <p:nvPr/>
        </p:nvPicPr>
        <p:blipFill>
          <a:blip r:embed="rId2"/>
          <a:stretch>
            <a:fillRect/>
          </a:stretch>
        </p:blipFill>
        <p:spPr>
          <a:xfrm>
            <a:off x="4789170" y="1908810"/>
            <a:ext cx="342900" cy="342900"/>
          </a:xfrm>
          <a:prstGeom prst="rect">
            <a:avLst/>
          </a:prstGeom>
        </p:spPr>
      </p:pic>
      <p:sp>
        <p:nvSpPr>
          <p:cNvPr id="11" name="Text 7"/>
          <p:cNvSpPr txBox="1"/>
          <p:nvPr/>
        </p:nvSpPr>
        <p:spPr>
          <a:xfrm>
            <a:off x="5440680" y="1828800"/>
            <a:ext cx="2240280" cy="502920"/>
          </a:xfrm>
          <a:prstGeom prst="rect">
            <a:avLst/>
          </a:prstGeom>
          <a:noFill/>
          <a:ln/>
        </p:spPr>
        <p:txBody>
          <a:bodyPr wrap="square" lIns="0" tIns="0" rIns="0" bIns="0" rtlCol="0" anchor="ctr"/>
          <a:lstStyle/>
          <a:p>
            <a:pPr indent="0" marL="0">
              <a:buNone/>
            </a:pPr>
            <a:r>
              <a:rPr lang="en-US" sz="2000" b="1" dirty="0">
                <a:solidFill>
                  <a:schemeClr val="tx1"/>
                </a:solidFill>
              </a:rPr>
              <a:t>Route</a:t>
            </a:r>
            <a:endParaRPr lang="en-US" sz="2000" dirty="0"/>
          </a:p>
        </p:txBody>
      </p:sp>
      <p:sp>
        <p:nvSpPr>
          <p:cNvPr id="12" name="Text 8"/>
          <p:cNvSpPr txBox="1"/>
          <p:nvPr/>
        </p:nvSpPr>
        <p:spPr>
          <a:xfrm>
            <a:off x="4617720" y="2697480"/>
            <a:ext cx="297180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Routes by team, severity, labels and source</a:t>
            </a:r>
            <a:endParaRPr lang="en-US" sz="1500" dirty="0"/>
          </a:p>
          <a:p>
            <a:pPr marL="342900" indent="-342900">
              <a:spcAft>
                <a:spcPts val="800"/>
              </a:spcAft>
              <a:buSzPct val="100000"/>
              <a:buChar char="•"/>
            </a:pPr>
            <a:r>
              <a:rPr lang="en-US" sz="1500" dirty="0">
                <a:solidFill>
                  <a:schemeClr val="tx2"/>
                </a:solidFill>
              </a:rPr>
              <a:t>Slack, signed webhooks, plugins</a:t>
            </a:r>
            <a:endParaRPr lang="en-US" sz="1500" dirty="0"/>
          </a:p>
          <a:p>
            <a:pPr marL="342900" indent="-342900">
              <a:spcAft>
                <a:spcPts val="800"/>
              </a:spcAft>
              <a:buSzPct val="100000"/>
              <a:buChar char="•"/>
            </a:pPr>
            <a:r>
              <a:rPr lang="en-US" sz="1500" dirty="0">
                <a:solidFill>
                  <a:schemeClr val="tx2"/>
                </a:solidFill>
              </a:rPr>
              <a:t>Updates the same message as the incident evolves</a:t>
            </a:r>
            <a:endParaRPr lang="en-US" sz="1500" dirty="0"/>
          </a:p>
        </p:txBody>
      </p:sp>
      <p:sp>
        <p:nvSpPr>
          <p:cNvPr id="13" name="pillar 3"/>
          <p:cNvSpPr/>
          <p:nvPr/>
        </p:nvSpPr>
        <p:spPr>
          <a:xfrm>
            <a:off x="8046720" y="1463040"/>
            <a:ext cx="3520440" cy="3383280"/>
          </a:xfrm>
          <a:prstGeom prst="roundRect">
            <a:avLst>
              <a:gd name="adj" fmla="val 3243"/>
            </a:avLst>
          </a:prstGeom>
          <a:solidFill>
            <a:schemeClr val="bg2"/>
          </a:solidFill>
          <a:ln/>
        </p:spPr>
      </p:sp>
      <p:sp>
        <p:nvSpPr>
          <p:cNvPr id="14" name="pillar 3 circle"/>
          <p:cNvSpPr/>
          <p:nvPr/>
        </p:nvSpPr>
        <p:spPr>
          <a:xfrm>
            <a:off x="8366760" y="1737360"/>
            <a:ext cx="685800" cy="685800"/>
          </a:xfrm>
          <a:prstGeom prst="ellipse">
            <a:avLst/>
          </a:prstGeom>
          <a:solidFill>
            <a:schemeClr val="accent1"/>
          </a:solidFill>
          <a:ln/>
        </p:spPr>
      </p:sp>
      <p:pic>
        <p:nvPicPr>
          <p:cNvPr id="15" name="pillar 3 icon" descr="preencoded.png">    </p:cNvPr>
          <p:cNvPicPr>
            <a:picLocks noChangeAspect="1"/>
          </p:cNvPicPr>
          <p:nvPr/>
        </p:nvPicPr>
        <p:blipFill>
          <a:blip r:embed="rId3"/>
          <a:stretch>
            <a:fillRect/>
          </a:stretch>
        </p:blipFill>
        <p:spPr>
          <a:xfrm>
            <a:off x="8538210" y="1908810"/>
            <a:ext cx="342900" cy="342900"/>
          </a:xfrm>
          <a:prstGeom prst="rect">
            <a:avLst/>
          </a:prstGeom>
        </p:spPr>
      </p:pic>
      <p:sp>
        <p:nvSpPr>
          <p:cNvPr id="16" name="Text 11"/>
          <p:cNvSpPr txBox="1"/>
          <p:nvPr/>
        </p:nvSpPr>
        <p:spPr>
          <a:xfrm>
            <a:off x="9189720" y="1828800"/>
            <a:ext cx="2240280" cy="502920"/>
          </a:xfrm>
          <a:prstGeom prst="rect">
            <a:avLst/>
          </a:prstGeom>
          <a:noFill/>
          <a:ln/>
        </p:spPr>
        <p:txBody>
          <a:bodyPr wrap="square" lIns="0" tIns="0" rIns="0" bIns="0" rtlCol="0" anchor="ctr"/>
          <a:lstStyle/>
          <a:p>
            <a:pPr indent="0" marL="0">
              <a:buNone/>
            </a:pPr>
            <a:r>
              <a:rPr lang="en-US" sz="2000" b="1" dirty="0">
                <a:solidFill>
                  <a:schemeClr val="tx1"/>
                </a:solidFill>
              </a:rPr>
              <a:t>Act safely</a:t>
            </a:r>
            <a:endParaRPr lang="en-US" sz="2000" dirty="0"/>
          </a:p>
        </p:txBody>
      </p:sp>
      <p:sp>
        <p:nvSpPr>
          <p:cNvPr id="17" name="Text 12"/>
          <p:cNvSpPr txBox="1"/>
          <p:nvPr/>
        </p:nvSpPr>
        <p:spPr>
          <a:xfrm>
            <a:off x="8366760" y="2697480"/>
            <a:ext cx="297180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Only pre-approved actions, never model-written code</a:t>
            </a:r>
            <a:endParaRPr lang="en-US" sz="1500" dirty="0"/>
          </a:p>
          <a:p>
            <a:pPr marL="342900" indent="-342900">
              <a:spcAft>
                <a:spcPts val="800"/>
              </a:spcAft>
              <a:buSzPct val="100000"/>
              <a:buChar char="•"/>
            </a:pPr>
            <a:r>
              <a:rPr lang="en-US" sz="1500" dirty="0">
                <a:solidFill>
                  <a:schemeClr val="tx2"/>
                </a:solidFill>
              </a:rPr>
              <a:t>A named person approves</a:t>
            </a:r>
            <a:endParaRPr lang="en-US" sz="1500" dirty="0"/>
          </a:p>
          <a:p>
            <a:pPr marL="342900" indent="-342900">
              <a:spcAft>
                <a:spcPts val="800"/>
              </a:spcAft>
              <a:buSzPct val="100000"/>
              <a:buChar char="•"/>
            </a:pPr>
            <a:r>
              <a:rPr lang="en-US" sz="1500" dirty="0">
                <a:solidFill>
                  <a:schemeClr val="tx2"/>
                </a:solidFill>
              </a:rPr>
              <a:t>Every step audited in Exasol</a:t>
            </a:r>
            <a:endParaRPr lang="en-US" sz="1500" dirty="0"/>
          </a:p>
        </p:txBody>
      </p:sp>
      <p:sp>
        <p:nvSpPr>
          <p:cNvPr id="18" name="Text 13"/>
          <p:cNvSpPr txBox="1"/>
          <p:nvPr/>
        </p:nvSpPr>
        <p:spPr>
          <a:xfrm>
            <a:off x="548640" y="5120640"/>
            <a:ext cx="1600200" cy="822960"/>
          </a:xfrm>
          <a:prstGeom prst="rect">
            <a:avLst/>
          </a:prstGeom>
          <a:noFill/>
          <a:ln/>
        </p:spPr>
        <p:txBody>
          <a:bodyPr wrap="square" lIns="0" tIns="0" rIns="0" bIns="0" rtlCol="0" anchor="ctr"/>
          <a:lstStyle/>
          <a:p>
            <a:pPr algn="r" indent="0" marL="0">
              <a:buNone/>
            </a:pPr>
            <a:r>
              <a:rPr lang="en-US" sz="4000" b="1" dirty="0">
                <a:solidFill>
                  <a:schemeClr val="accent1"/>
                </a:solidFill>
                <a:latin typeface="Cambria" pitchFamily="34" charset="0"/>
                <a:ea typeface="Cambria" pitchFamily="34" charset="-122"/>
                <a:cs typeface="Cambria" pitchFamily="34" charset="-120"/>
              </a:rPr>
              <a:t>1</a:t>
            </a:r>
            <a:endParaRPr lang="en-US" sz="4000" dirty="0"/>
          </a:p>
        </p:txBody>
      </p:sp>
      <p:sp>
        <p:nvSpPr>
          <p:cNvPr id="19" name="Text 14"/>
          <p:cNvSpPr txBox="1"/>
          <p:nvPr/>
        </p:nvSpPr>
        <p:spPr>
          <a:xfrm>
            <a:off x="2331720" y="5120640"/>
            <a:ext cx="1737360" cy="822960"/>
          </a:xfrm>
          <a:prstGeom prst="rect">
            <a:avLst/>
          </a:prstGeom>
          <a:noFill/>
          <a:ln/>
        </p:spPr>
        <p:txBody>
          <a:bodyPr wrap="square" lIns="0" tIns="0" rIns="0" bIns="0" rtlCol="0" anchor="ctr"/>
          <a:lstStyle/>
          <a:p>
            <a:pPr indent="0" marL="0">
              <a:buNone/>
            </a:pPr>
            <a:r>
              <a:rPr lang="en-US" sz="1400" dirty="0">
                <a:solidFill>
                  <a:schemeClr val="tx1"/>
                </a:solidFill>
              </a:rPr>
              <a:t>incident per failure, not N alerts</a:t>
            </a:r>
            <a:endParaRPr lang="en-US" sz="1400" dirty="0"/>
          </a:p>
        </p:txBody>
      </p:sp>
      <p:sp>
        <p:nvSpPr>
          <p:cNvPr id="20" name="Text 15"/>
          <p:cNvSpPr txBox="1"/>
          <p:nvPr/>
        </p:nvSpPr>
        <p:spPr>
          <a:xfrm>
            <a:off x="4297680" y="5120640"/>
            <a:ext cx="1600200" cy="822960"/>
          </a:xfrm>
          <a:prstGeom prst="rect">
            <a:avLst/>
          </a:prstGeom>
          <a:noFill/>
          <a:ln/>
        </p:spPr>
        <p:txBody>
          <a:bodyPr wrap="square" lIns="0" tIns="0" rIns="0" bIns="0" rtlCol="0" anchor="ctr"/>
          <a:lstStyle/>
          <a:p>
            <a:pPr algn="r" indent="0" marL="0">
              <a:buNone/>
            </a:pPr>
            <a:r>
              <a:rPr lang="en-US" sz="4000" b="1" dirty="0">
                <a:solidFill>
                  <a:schemeClr val="accent1"/>
                </a:solidFill>
                <a:latin typeface="Cambria" pitchFamily="34" charset="0"/>
                <a:ea typeface="Cambria" pitchFamily="34" charset="-122"/>
                <a:cs typeface="Cambria" pitchFamily="34" charset="-120"/>
              </a:rPr>
              <a:t>0</a:t>
            </a:r>
            <a:endParaRPr lang="en-US" sz="4000" dirty="0"/>
          </a:p>
        </p:txBody>
      </p:sp>
      <p:sp>
        <p:nvSpPr>
          <p:cNvPr id="21" name="Text 16"/>
          <p:cNvSpPr txBox="1"/>
          <p:nvPr/>
        </p:nvSpPr>
        <p:spPr>
          <a:xfrm>
            <a:off x="6080760" y="5120640"/>
            <a:ext cx="1737360" cy="822960"/>
          </a:xfrm>
          <a:prstGeom prst="rect">
            <a:avLst/>
          </a:prstGeom>
          <a:noFill/>
          <a:ln/>
        </p:spPr>
        <p:txBody>
          <a:bodyPr wrap="square" lIns="0" tIns="0" rIns="0" bIns="0" rtlCol="0" anchor="ctr"/>
          <a:lstStyle/>
          <a:p>
            <a:pPr indent="0" marL="0">
              <a:buNone/>
            </a:pPr>
            <a:r>
              <a:rPr lang="en-US" sz="1400" dirty="0">
                <a:solidFill>
                  <a:schemeClr val="tx1"/>
                </a:solidFill>
              </a:rPr>
              <a:t>changes without a human's approval</a:t>
            </a:r>
            <a:endParaRPr lang="en-US" sz="1400" dirty="0"/>
          </a:p>
        </p:txBody>
      </p:sp>
      <p:sp>
        <p:nvSpPr>
          <p:cNvPr id="22" name="Text 17"/>
          <p:cNvSpPr txBox="1"/>
          <p:nvPr/>
        </p:nvSpPr>
        <p:spPr>
          <a:xfrm>
            <a:off x="8046720" y="5120640"/>
            <a:ext cx="1600200" cy="822960"/>
          </a:xfrm>
          <a:prstGeom prst="rect">
            <a:avLst/>
          </a:prstGeom>
          <a:noFill/>
          <a:ln/>
        </p:spPr>
        <p:txBody>
          <a:bodyPr wrap="square" lIns="0" tIns="0" rIns="0" bIns="0" rtlCol="0" anchor="ctr"/>
          <a:lstStyle/>
          <a:p>
            <a:pPr algn="r" indent="0" marL="0">
              <a:buNone/>
            </a:pPr>
            <a:r>
              <a:rPr lang="en-US" sz="4000" b="1" dirty="0">
                <a:solidFill>
                  <a:schemeClr val="accent1"/>
                </a:solidFill>
                <a:latin typeface="Cambria" pitchFamily="34" charset="0"/>
                <a:ea typeface="Cambria" pitchFamily="34" charset="-122"/>
                <a:cs typeface="Cambria" pitchFamily="34" charset="-120"/>
              </a:rPr>
              <a:t>100%</a:t>
            </a:r>
            <a:endParaRPr lang="en-US" sz="4000" dirty="0"/>
          </a:p>
        </p:txBody>
      </p:sp>
      <p:sp>
        <p:nvSpPr>
          <p:cNvPr id="23" name="Text 18"/>
          <p:cNvSpPr txBox="1"/>
          <p:nvPr/>
        </p:nvSpPr>
        <p:spPr>
          <a:xfrm>
            <a:off x="9829800" y="5120640"/>
            <a:ext cx="1737360" cy="822960"/>
          </a:xfrm>
          <a:prstGeom prst="rect">
            <a:avLst/>
          </a:prstGeom>
          <a:noFill/>
          <a:ln/>
        </p:spPr>
        <p:txBody>
          <a:bodyPr wrap="square" lIns="0" tIns="0" rIns="0" bIns="0" rtlCol="0" anchor="ctr"/>
          <a:lstStyle/>
          <a:p>
            <a:pPr indent="0" marL="0">
              <a:buNone/>
            </a:pPr>
            <a:r>
              <a:rPr lang="en-US" sz="1400" dirty="0">
                <a:solidFill>
                  <a:schemeClr val="tx1"/>
                </a:solidFill>
              </a:rPr>
              <a:t>of agent steps recorded for audit</a:t>
            </a: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How it works: from alert to audited outcome</a:t>
            </a:r>
            <a:endParaRPr lang="en-US" sz="3200" dirty="0"/>
          </a:p>
        </p:txBody>
      </p:sp>
      <p:sp>
        <p:nvSpPr>
          <p:cNvPr id="3" name="step 1 circle"/>
          <p:cNvSpPr/>
          <p:nvPr/>
        </p:nvSpPr>
        <p:spPr>
          <a:xfrm>
            <a:off x="960120" y="1737360"/>
            <a:ext cx="868680" cy="868680"/>
          </a:xfrm>
          <a:prstGeom prst="ellipse">
            <a:avLst/>
          </a:prstGeom>
          <a:solidFill>
            <a:schemeClr val="tx1"/>
          </a:solidFill>
          <a:ln/>
        </p:spPr>
      </p:sp>
      <p:pic>
        <p:nvPicPr>
          <p:cNvPr id="4" name="step 1 icon" descr="preencoded.png">    </p:cNvPr>
          <p:cNvPicPr>
            <a:picLocks noChangeAspect="1"/>
          </p:cNvPicPr>
          <p:nvPr/>
        </p:nvPicPr>
        <p:blipFill>
          <a:blip r:embed="rId1"/>
          <a:stretch>
            <a:fillRect/>
          </a:stretch>
        </p:blipFill>
        <p:spPr>
          <a:xfrm>
            <a:off x="1177290" y="1954530"/>
            <a:ext cx="434340" cy="434340"/>
          </a:xfrm>
          <a:prstGeom prst="rect">
            <a:avLst/>
          </a:prstGeom>
        </p:spPr>
      </p:pic>
      <p:sp>
        <p:nvSpPr>
          <p:cNvPr id="5" name="arrow 1"/>
          <p:cNvSpPr/>
          <p:nvPr/>
        </p:nvSpPr>
        <p:spPr>
          <a:xfrm>
            <a:off x="1920240" y="2171700"/>
            <a:ext cx="914400" cy="0"/>
          </a:xfrm>
          <a:prstGeom prst="line">
            <a:avLst/>
          </a:prstGeom>
          <a:noFill/>
          <a:ln w="19050">
            <a:solidFill>
              <a:schemeClr val="accent5"/>
            </a:solidFill>
            <a:prstDash val="solid"/>
            <a:tailEnd type="triangle"/>
          </a:ln>
        </p:spPr>
      </p:sp>
      <p:sp>
        <p:nvSpPr>
          <p:cNvPr id="6" name="Text 3"/>
          <p:cNvSpPr txBox="1"/>
          <p:nvPr/>
        </p:nvSpPr>
        <p:spPr>
          <a:xfrm>
            <a:off x="548640" y="2788920"/>
            <a:ext cx="1691640" cy="365760"/>
          </a:xfrm>
          <a:prstGeom prst="rect">
            <a:avLst/>
          </a:prstGeom>
          <a:noFill/>
          <a:ln/>
        </p:spPr>
        <p:txBody>
          <a:bodyPr wrap="square" lIns="0" tIns="0" rIns="0" bIns="0" rtlCol="0" anchor="t"/>
          <a:lstStyle/>
          <a:p>
            <a:pPr algn="ctr" indent="0" marL="0">
              <a:buNone/>
            </a:pPr>
            <a:r>
              <a:rPr lang="en-US" sz="1700" b="1" dirty="0">
                <a:solidFill>
                  <a:schemeClr val="tx1"/>
                </a:solidFill>
              </a:rPr>
              <a:t>1. Ingest</a:t>
            </a:r>
            <a:endParaRPr lang="en-US" sz="1700" dirty="0"/>
          </a:p>
        </p:txBody>
      </p:sp>
      <p:sp>
        <p:nvSpPr>
          <p:cNvPr id="7" name="Text 4"/>
          <p:cNvSpPr txBox="1"/>
          <p:nvPr/>
        </p:nvSpPr>
        <p:spPr>
          <a:xfrm>
            <a:off x="548640" y="3200400"/>
            <a:ext cx="1691640" cy="731520"/>
          </a:xfrm>
          <a:prstGeom prst="rect">
            <a:avLst/>
          </a:prstGeom>
          <a:noFill/>
          <a:ln/>
        </p:spPr>
        <p:txBody>
          <a:bodyPr wrap="square" lIns="0" tIns="0" rIns="0" bIns="0" rtlCol="0" anchor="t"/>
          <a:lstStyle/>
          <a:p>
            <a:pPr algn="ctr" indent="0" marL="0">
              <a:buNone/>
            </a:pPr>
            <a:r>
              <a:rPr lang="en-US" sz="1300" dirty="0">
                <a:solidFill>
                  <a:schemeClr val="tx2"/>
                </a:solidFill>
              </a:rPr>
              <a:t>Any tool POSTs an alert</a:t>
            </a:r>
            <a:endParaRPr lang="en-US" sz="1300" dirty="0"/>
          </a:p>
        </p:txBody>
      </p:sp>
      <p:sp>
        <p:nvSpPr>
          <p:cNvPr id="8" name="step 2 circle"/>
          <p:cNvSpPr/>
          <p:nvPr/>
        </p:nvSpPr>
        <p:spPr>
          <a:xfrm>
            <a:off x="2834640" y="1737360"/>
            <a:ext cx="868680" cy="868680"/>
          </a:xfrm>
          <a:prstGeom prst="ellipse">
            <a:avLst/>
          </a:prstGeom>
          <a:solidFill>
            <a:schemeClr val="tx1"/>
          </a:solidFill>
          <a:ln/>
        </p:spPr>
      </p:sp>
      <p:pic>
        <p:nvPicPr>
          <p:cNvPr id="9" name="step 2 icon" descr="preencoded.png">    </p:cNvPr>
          <p:cNvPicPr>
            <a:picLocks noChangeAspect="1"/>
          </p:cNvPicPr>
          <p:nvPr/>
        </p:nvPicPr>
        <p:blipFill>
          <a:blip r:embed="rId2"/>
          <a:stretch>
            <a:fillRect/>
          </a:stretch>
        </p:blipFill>
        <p:spPr>
          <a:xfrm>
            <a:off x="3051810" y="1954530"/>
            <a:ext cx="434340" cy="434340"/>
          </a:xfrm>
          <a:prstGeom prst="rect">
            <a:avLst/>
          </a:prstGeom>
        </p:spPr>
      </p:pic>
      <p:sp>
        <p:nvSpPr>
          <p:cNvPr id="10" name="arrow 2"/>
          <p:cNvSpPr/>
          <p:nvPr/>
        </p:nvSpPr>
        <p:spPr>
          <a:xfrm>
            <a:off x="3794760" y="2171700"/>
            <a:ext cx="914400" cy="0"/>
          </a:xfrm>
          <a:prstGeom prst="line">
            <a:avLst/>
          </a:prstGeom>
          <a:noFill/>
          <a:ln w="19050">
            <a:solidFill>
              <a:schemeClr val="accent5"/>
            </a:solidFill>
            <a:prstDash val="solid"/>
            <a:tailEnd type="triangle"/>
          </a:ln>
        </p:spPr>
      </p:sp>
      <p:sp>
        <p:nvSpPr>
          <p:cNvPr id="11" name="Text 7"/>
          <p:cNvSpPr txBox="1"/>
          <p:nvPr/>
        </p:nvSpPr>
        <p:spPr>
          <a:xfrm>
            <a:off x="2423160" y="2788920"/>
            <a:ext cx="1691640" cy="365760"/>
          </a:xfrm>
          <a:prstGeom prst="rect">
            <a:avLst/>
          </a:prstGeom>
          <a:noFill/>
          <a:ln/>
        </p:spPr>
        <p:txBody>
          <a:bodyPr wrap="square" lIns="0" tIns="0" rIns="0" bIns="0" rtlCol="0" anchor="t"/>
          <a:lstStyle/>
          <a:p>
            <a:pPr algn="ctr" indent="0" marL="0">
              <a:buNone/>
            </a:pPr>
            <a:r>
              <a:rPr lang="en-US" sz="1700" b="1" dirty="0">
                <a:solidFill>
                  <a:schemeClr val="tx1"/>
                </a:solidFill>
              </a:rPr>
              <a:t>2. Correlate</a:t>
            </a:r>
            <a:endParaRPr lang="en-US" sz="1700" dirty="0"/>
          </a:p>
        </p:txBody>
      </p:sp>
      <p:sp>
        <p:nvSpPr>
          <p:cNvPr id="12" name="Text 8"/>
          <p:cNvSpPr txBox="1"/>
          <p:nvPr/>
        </p:nvSpPr>
        <p:spPr>
          <a:xfrm>
            <a:off x="2423160" y="3200400"/>
            <a:ext cx="1691640" cy="731520"/>
          </a:xfrm>
          <a:prstGeom prst="rect">
            <a:avLst/>
          </a:prstGeom>
          <a:noFill/>
          <a:ln/>
        </p:spPr>
        <p:txBody>
          <a:bodyPr wrap="square" lIns="0" tIns="0" rIns="0" bIns="0" rtlCol="0" anchor="t"/>
          <a:lstStyle/>
          <a:p>
            <a:pPr algn="ctr" indent="0" marL="0">
              <a:buNone/>
            </a:pPr>
            <a:r>
              <a:rPr lang="en-US" sz="1300" dirty="0">
                <a:solidFill>
                  <a:schemeClr val="tx2"/>
                </a:solidFill>
              </a:rPr>
              <a:t>Fingerprint: repeats join one incident</a:t>
            </a:r>
            <a:endParaRPr lang="en-US" sz="1300" dirty="0"/>
          </a:p>
        </p:txBody>
      </p:sp>
      <p:sp>
        <p:nvSpPr>
          <p:cNvPr id="13" name="step 3 circle"/>
          <p:cNvSpPr/>
          <p:nvPr/>
        </p:nvSpPr>
        <p:spPr>
          <a:xfrm>
            <a:off x="4709160" y="1737360"/>
            <a:ext cx="868680" cy="868680"/>
          </a:xfrm>
          <a:prstGeom prst="ellipse">
            <a:avLst/>
          </a:prstGeom>
          <a:solidFill>
            <a:schemeClr val="tx1"/>
          </a:solidFill>
          <a:ln/>
        </p:spPr>
      </p:sp>
      <p:pic>
        <p:nvPicPr>
          <p:cNvPr id="14" name="step 3 icon" descr="preencoded.png">    </p:cNvPr>
          <p:cNvPicPr>
            <a:picLocks noChangeAspect="1"/>
          </p:cNvPicPr>
          <p:nvPr/>
        </p:nvPicPr>
        <p:blipFill>
          <a:blip r:embed="rId3"/>
          <a:stretch>
            <a:fillRect/>
          </a:stretch>
        </p:blipFill>
        <p:spPr>
          <a:xfrm>
            <a:off x="4926330" y="1954530"/>
            <a:ext cx="434340" cy="434340"/>
          </a:xfrm>
          <a:prstGeom prst="rect">
            <a:avLst/>
          </a:prstGeom>
        </p:spPr>
      </p:pic>
      <p:sp>
        <p:nvSpPr>
          <p:cNvPr id="15" name="arrow 3"/>
          <p:cNvSpPr/>
          <p:nvPr/>
        </p:nvSpPr>
        <p:spPr>
          <a:xfrm>
            <a:off x="5669280" y="2171700"/>
            <a:ext cx="914400" cy="0"/>
          </a:xfrm>
          <a:prstGeom prst="line">
            <a:avLst/>
          </a:prstGeom>
          <a:noFill/>
          <a:ln w="19050">
            <a:solidFill>
              <a:schemeClr val="accent5"/>
            </a:solidFill>
            <a:prstDash val="solid"/>
            <a:tailEnd type="triangle"/>
          </a:ln>
        </p:spPr>
      </p:sp>
      <p:sp>
        <p:nvSpPr>
          <p:cNvPr id="16" name="Text 11"/>
          <p:cNvSpPr txBox="1"/>
          <p:nvPr/>
        </p:nvSpPr>
        <p:spPr>
          <a:xfrm>
            <a:off x="4297680" y="2788920"/>
            <a:ext cx="1691640" cy="365760"/>
          </a:xfrm>
          <a:prstGeom prst="rect">
            <a:avLst/>
          </a:prstGeom>
          <a:noFill/>
          <a:ln/>
        </p:spPr>
        <p:txBody>
          <a:bodyPr wrap="square" lIns="0" tIns="0" rIns="0" bIns="0" rtlCol="0" anchor="t"/>
          <a:lstStyle/>
          <a:p>
            <a:pPr algn="ctr" indent="0" marL="0">
              <a:buNone/>
            </a:pPr>
            <a:r>
              <a:rPr lang="en-US" sz="1700" b="1" dirty="0">
                <a:solidFill>
                  <a:schemeClr val="tx1"/>
                </a:solidFill>
              </a:rPr>
              <a:t>3. Route</a:t>
            </a:r>
            <a:endParaRPr lang="en-US" sz="1700" dirty="0"/>
          </a:p>
        </p:txBody>
      </p:sp>
      <p:sp>
        <p:nvSpPr>
          <p:cNvPr id="17" name="Text 12"/>
          <p:cNvSpPr txBox="1"/>
          <p:nvPr/>
        </p:nvSpPr>
        <p:spPr>
          <a:xfrm>
            <a:off x="4297680" y="3200400"/>
            <a:ext cx="1691640" cy="731520"/>
          </a:xfrm>
          <a:prstGeom prst="rect">
            <a:avLst/>
          </a:prstGeom>
          <a:noFill/>
          <a:ln/>
        </p:spPr>
        <p:txBody>
          <a:bodyPr wrap="square" lIns="0" tIns="0" rIns="0" bIns="0" rtlCol="0" anchor="t"/>
          <a:lstStyle/>
          <a:p>
            <a:pPr algn="ctr" indent="0" marL="0">
              <a:buNone/>
            </a:pPr>
            <a:r>
              <a:rPr lang="en-US" sz="1300" dirty="0">
                <a:solidFill>
                  <a:schemeClr val="tx2"/>
                </a:solidFill>
              </a:rPr>
              <a:t>Right channel by team and severity</a:t>
            </a:r>
            <a:endParaRPr lang="en-US" sz="1300" dirty="0"/>
          </a:p>
        </p:txBody>
      </p:sp>
      <p:sp>
        <p:nvSpPr>
          <p:cNvPr id="18" name="step 4 circle"/>
          <p:cNvSpPr/>
          <p:nvPr/>
        </p:nvSpPr>
        <p:spPr>
          <a:xfrm>
            <a:off x="6583680" y="1737360"/>
            <a:ext cx="868680" cy="868680"/>
          </a:xfrm>
          <a:prstGeom prst="ellipse">
            <a:avLst/>
          </a:prstGeom>
          <a:solidFill>
            <a:schemeClr val="accent1"/>
          </a:solidFill>
          <a:ln/>
        </p:spPr>
      </p:sp>
      <p:pic>
        <p:nvPicPr>
          <p:cNvPr id="19" name="step 4 icon" descr="preencoded.png">    </p:cNvPr>
          <p:cNvPicPr>
            <a:picLocks noChangeAspect="1"/>
          </p:cNvPicPr>
          <p:nvPr/>
        </p:nvPicPr>
        <p:blipFill>
          <a:blip r:embed="rId4"/>
          <a:stretch>
            <a:fillRect/>
          </a:stretch>
        </p:blipFill>
        <p:spPr>
          <a:xfrm>
            <a:off x="6800850" y="1954530"/>
            <a:ext cx="434340" cy="434340"/>
          </a:xfrm>
          <a:prstGeom prst="rect">
            <a:avLst/>
          </a:prstGeom>
        </p:spPr>
      </p:pic>
      <p:sp>
        <p:nvSpPr>
          <p:cNvPr id="20" name="arrow 4"/>
          <p:cNvSpPr/>
          <p:nvPr/>
        </p:nvSpPr>
        <p:spPr>
          <a:xfrm>
            <a:off x="7543800" y="2171700"/>
            <a:ext cx="914400" cy="0"/>
          </a:xfrm>
          <a:prstGeom prst="line">
            <a:avLst/>
          </a:prstGeom>
          <a:noFill/>
          <a:ln w="19050">
            <a:solidFill>
              <a:schemeClr val="accent5"/>
            </a:solidFill>
            <a:prstDash val="solid"/>
            <a:tailEnd type="triangle"/>
          </a:ln>
        </p:spPr>
      </p:sp>
      <p:sp>
        <p:nvSpPr>
          <p:cNvPr id="21" name="Text 15"/>
          <p:cNvSpPr txBox="1"/>
          <p:nvPr/>
        </p:nvSpPr>
        <p:spPr>
          <a:xfrm>
            <a:off x="6172200" y="2788920"/>
            <a:ext cx="1691640" cy="365760"/>
          </a:xfrm>
          <a:prstGeom prst="rect">
            <a:avLst/>
          </a:prstGeom>
          <a:noFill/>
          <a:ln/>
        </p:spPr>
        <p:txBody>
          <a:bodyPr wrap="square" lIns="0" tIns="0" rIns="0" bIns="0" rtlCol="0" anchor="t"/>
          <a:lstStyle/>
          <a:p>
            <a:pPr algn="ctr" indent="0" marL="0">
              <a:buNone/>
            </a:pPr>
            <a:r>
              <a:rPr lang="en-US" sz="1700" b="1" dirty="0">
                <a:solidFill>
                  <a:schemeClr val="tx1"/>
                </a:solidFill>
              </a:rPr>
              <a:t>4. Analyze</a:t>
            </a:r>
            <a:endParaRPr lang="en-US" sz="1700" dirty="0"/>
          </a:p>
        </p:txBody>
      </p:sp>
      <p:sp>
        <p:nvSpPr>
          <p:cNvPr id="22" name="Text 16"/>
          <p:cNvSpPr txBox="1"/>
          <p:nvPr/>
        </p:nvSpPr>
        <p:spPr>
          <a:xfrm>
            <a:off x="6172200" y="3200400"/>
            <a:ext cx="1691640" cy="731520"/>
          </a:xfrm>
          <a:prstGeom prst="rect">
            <a:avLst/>
          </a:prstGeom>
          <a:noFill/>
          <a:ln/>
        </p:spPr>
        <p:txBody>
          <a:bodyPr wrap="square" lIns="0" tIns="0" rIns="0" bIns="0" rtlCol="0" anchor="t"/>
          <a:lstStyle/>
          <a:p>
            <a:pPr algn="ctr" indent="0" marL="0">
              <a:buNone/>
            </a:pPr>
            <a:r>
              <a:rPr lang="en-US" sz="1300" dirty="0">
                <a:solidFill>
                  <a:schemeClr val="tx2"/>
                </a:solidFill>
              </a:rPr>
              <a:t>Triage, then investigation with tools</a:t>
            </a:r>
            <a:endParaRPr lang="en-US" sz="1300" dirty="0"/>
          </a:p>
        </p:txBody>
      </p:sp>
      <p:sp>
        <p:nvSpPr>
          <p:cNvPr id="23" name="step 5 circle"/>
          <p:cNvSpPr/>
          <p:nvPr/>
        </p:nvSpPr>
        <p:spPr>
          <a:xfrm>
            <a:off x="8458200" y="1737360"/>
            <a:ext cx="868680" cy="868680"/>
          </a:xfrm>
          <a:prstGeom prst="ellipse">
            <a:avLst/>
          </a:prstGeom>
          <a:solidFill>
            <a:schemeClr val="tx1"/>
          </a:solidFill>
          <a:ln/>
        </p:spPr>
      </p:sp>
      <p:pic>
        <p:nvPicPr>
          <p:cNvPr id="24" name="step 5 icon" descr="preencoded.png">    </p:cNvPr>
          <p:cNvPicPr>
            <a:picLocks noChangeAspect="1"/>
          </p:cNvPicPr>
          <p:nvPr/>
        </p:nvPicPr>
        <p:blipFill>
          <a:blip r:embed="rId5"/>
          <a:stretch>
            <a:fillRect/>
          </a:stretch>
        </p:blipFill>
        <p:spPr>
          <a:xfrm>
            <a:off x="8675370" y="1954530"/>
            <a:ext cx="434340" cy="434340"/>
          </a:xfrm>
          <a:prstGeom prst="rect">
            <a:avLst/>
          </a:prstGeom>
        </p:spPr>
      </p:pic>
      <p:sp>
        <p:nvSpPr>
          <p:cNvPr id="25" name="arrow 5"/>
          <p:cNvSpPr/>
          <p:nvPr/>
        </p:nvSpPr>
        <p:spPr>
          <a:xfrm>
            <a:off x="9418320" y="2171700"/>
            <a:ext cx="914400" cy="0"/>
          </a:xfrm>
          <a:prstGeom prst="line">
            <a:avLst/>
          </a:prstGeom>
          <a:noFill/>
          <a:ln w="19050">
            <a:solidFill>
              <a:schemeClr val="accent5"/>
            </a:solidFill>
            <a:prstDash val="solid"/>
            <a:tailEnd type="triangle"/>
          </a:ln>
        </p:spPr>
      </p:sp>
      <p:sp>
        <p:nvSpPr>
          <p:cNvPr id="26" name="Text 19"/>
          <p:cNvSpPr txBox="1"/>
          <p:nvPr/>
        </p:nvSpPr>
        <p:spPr>
          <a:xfrm>
            <a:off x="8046720" y="2788920"/>
            <a:ext cx="1691640" cy="365760"/>
          </a:xfrm>
          <a:prstGeom prst="rect">
            <a:avLst/>
          </a:prstGeom>
          <a:noFill/>
          <a:ln/>
        </p:spPr>
        <p:txBody>
          <a:bodyPr wrap="square" lIns="0" tIns="0" rIns="0" bIns="0" rtlCol="0" anchor="t"/>
          <a:lstStyle/>
          <a:p>
            <a:pPr algn="ctr" indent="0" marL="0">
              <a:buNone/>
            </a:pPr>
            <a:r>
              <a:rPr lang="en-US" sz="1700" b="1" dirty="0">
                <a:solidFill>
                  <a:schemeClr val="tx1"/>
                </a:solidFill>
              </a:rPr>
              <a:t>5. Approve</a:t>
            </a:r>
            <a:endParaRPr lang="en-US" sz="1700" dirty="0"/>
          </a:p>
        </p:txBody>
      </p:sp>
      <p:sp>
        <p:nvSpPr>
          <p:cNvPr id="27" name="Text 20"/>
          <p:cNvSpPr txBox="1"/>
          <p:nvPr/>
        </p:nvSpPr>
        <p:spPr>
          <a:xfrm>
            <a:off x="8046720" y="3200400"/>
            <a:ext cx="1691640" cy="731520"/>
          </a:xfrm>
          <a:prstGeom prst="rect">
            <a:avLst/>
          </a:prstGeom>
          <a:noFill/>
          <a:ln/>
        </p:spPr>
        <p:txBody>
          <a:bodyPr wrap="square" lIns="0" tIns="0" rIns="0" bIns="0" rtlCol="0" anchor="t"/>
          <a:lstStyle/>
          <a:p>
            <a:pPr algn="ctr" indent="0" marL="0">
              <a:buNone/>
            </a:pPr>
            <a:r>
              <a:rPr lang="en-US" sz="1300" dirty="0">
                <a:solidFill>
                  <a:schemeClr val="tx2"/>
                </a:solidFill>
              </a:rPr>
              <a:t>Pre-approved action, named approver</a:t>
            </a:r>
            <a:endParaRPr lang="en-US" sz="1300" dirty="0"/>
          </a:p>
        </p:txBody>
      </p:sp>
      <p:sp>
        <p:nvSpPr>
          <p:cNvPr id="28" name="step 6 circle"/>
          <p:cNvSpPr/>
          <p:nvPr/>
        </p:nvSpPr>
        <p:spPr>
          <a:xfrm>
            <a:off x="10332720" y="1737360"/>
            <a:ext cx="868680" cy="868680"/>
          </a:xfrm>
          <a:prstGeom prst="ellipse">
            <a:avLst/>
          </a:prstGeom>
          <a:solidFill>
            <a:schemeClr val="tx1"/>
          </a:solidFill>
          <a:ln/>
        </p:spPr>
      </p:sp>
      <p:pic>
        <p:nvPicPr>
          <p:cNvPr id="29" name="step 6 icon" descr="preencoded.png">    </p:cNvPr>
          <p:cNvPicPr>
            <a:picLocks noChangeAspect="1"/>
          </p:cNvPicPr>
          <p:nvPr/>
        </p:nvPicPr>
        <p:blipFill>
          <a:blip r:embed="rId6"/>
          <a:stretch>
            <a:fillRect/>
          </a:stretch>
        </p:blipFill>
        <p:spPr>
          <a:xfrm>
            <a:off x="10549890" y="1954530"/>
            <a:ext cx="434340" cy="434340"/>
          </a:xfrm>
          <a:prstGeom prst="rect">
            <a:avLst/>
          </a:prstGeom>
        </p:spPr>
      </p:pic>
      <p:sp>
        <p:nvSpPr>
          <p:cNvPr id="30" name="Text 22"/>
          <p:cNvSpPr txBox="1"/>
          <p:nvPr/>
        </p:nvSpPr>
        <p:spPr>
          <a:xfrm>
            <a:off x="9921240" y="2788920"/>
            <a:ext cx="1691640" cy="365760"/>
          </a:xfrm>
          <a:prstGeom prst="rect">
            <a:avLst/>
          </a:prstGeom>
          <a:noFill/>
          <a:ln/>
        </p:spPr>
        <p:txBody>
          <a:bodyPr wrap="square" lIns="0" tIns="0" rIns="0" bIns="0" rtlCol="0" anchor="t"/>
          <a:lstStyle/>
          <a:p>
            <a:pPr algn="ctr" indent="0" marL="0">
              <a:buNone/>
            </a:pPr>
            <a:r>
              <a:rPr lang="en-US" sz="1700" b="1" dirty="0">
                <a:solidFill>
                  <a:schemeClr val="tx1"/>
                </a:solidFill>
              </a:rPr>
              <a:t>6. Audit</a:t>
            </a:r>
            <a:endParaRPr lang="en-US" sz="1700" dirty="0"/>
          </a:p>
        </p:txBody>
      </p:sp>
      <p:sp>
        <p:nvSpPr>
          <p:cNvPr id="31" name="Text 23"/>
          <p:cNvSpPr txBox="1"/>
          <p:nvPr/>
        </p:nvSpPr>
        <p:spPr>
          <a:xfrm>
            <a:off x="9921240" y="3200400"/>
            <a:ext cx="1691640" cy="731520"/>
          </a:xfrm>
          <a:prstGeom prst="rect">
            <a:avLst/>
          </a:prstGeom>
          <a:noFill/>
          <a:ln/>
        </p:spPr>
        <p:txBody>
          <a:bodyPr wrap="square" lIns="0" tIns="0" rIns="0" bIns="0" rtlCol="0" anchor="t"/>
          <a:lstStyle/>
          <a:p>
            <a:pPr algn="ctr" indent="0" marL="0">
              <a:buNone/>
            </a:pPr>
            <a:r>
              <a:rPr lang="en-US" sz="1300" dirty="0">
                <a:solidFill>
                  <a:schemeClr val="tx2"/>
                </a:solidFill>
              </a:rPr>
              <a:t>Every step stored in Exasol</a:t>
            </a:r>
            <a:endParaRPr lang="en-US" sz="1300" dirty="0"/>
          </a:p>
        </p:txBody>
      </p:sp>
      <p:sp>
        <p:nvSpPr>
          <p:cNvPr id="32" name="inputs card"/>
          <p:cNvSpPr/>
          <p:nvPr/>
        </p:nvSpPr>
        <p:spPr>
          <a:xfrm>
            <a:off x="548640" y="4343400"/>
            <a:ext cx="5394960" cy="1645920"/>
          </a:xfrm>
          <a:prstGeom prst="roundRect">
            <a:avLst>
              <a:gd name="adj" fmla="val 6667"/>
            </a:avLst>
          </a:prstGeom>
          <a:solidFill>
            <a:schemeClr val="bg2"/>
          </a:solidFill>
          <a:ln/>
        </p:spPr>
      </p:sp>
      <p:sp>
        <p:nvSpPr>
          <p:cNvPr id="33" name="Text 25"/>
          <p:cNvSpPr txBox="1"/>
          <p:nvPr/>
        </p:nvSpPr>
        <p:spPr>
          <a:xfrm>
            <a:off x="822960" y="4526280"/>
            <a:ext cx="4846320" cy="320040"/>
          </a:xfrm>
          <a:prstGeom prst="rect">
            <a:avLst/>
          </a:prstGeom>
          <a:noFill/>
          <a:ln/>
        </p:spPr>
        <p:txBody>
          <a:bodyPr wrap="square" lIns="0" tIns="0" rIns="0" bIns="0" rtlCol="0" anchor="t"/>
          <a:lstStyle/>
          <a:p>
            <a:pPr indent="0" marL="0">
              <a:buNone/>
            </a:pPr>
            <a:r>
              <a:rPr lang="en-US" sz="1400" b="1" dirty="0">
                <a:solidFill>
                  <a:schemeClr val="accent4"/>
                </a:solidFill>
              </a:rPr>
              <a:t>In</a:t>
            </a:r>
            <a:endParaRPr lang="en-US" sz="1400" dirty="0"/>
          </a:p>
        </p:txBody>
      </p:sp>
      <p:sp>
        <p:nvSpPr>
          <p:cNvPr id="34" name="Text 26"/>
          <p:cNvSpPr txBox="1"/>
          <p:nvPr/>
        </p:nvSpPr>
        <p:spPr>
          <a:xfrm>
            <a:off x="822960" y="4892040"/>
            <a:ext cx="4846320" cy="1005840"/>
          </a:xfrm>
          <a:prstGeom prst="rect">
            <a:avLst/>
          </a:prstGeom>
          <a:noFill/>
          <a:ln/>
        </p:spPr>
        <p:txBody>
          <a:bodyPr wrap="square" lIns="0" tIns="0" rIns="0" bIns="0" rtlCol="0" anchor="t"/>
          <a:lstStyle/>
          <a:p>
            <a:pPr indent="0" marL="0">
              <a:buNone/>
            </a:pPr>
            <a:r>
              <a:rPr lang="en-US" sz="1400" dirty="0">
                <a:solidFill>
                  <a:schemeClr val="tx2"/>
                </a:solidFill>
              </a:rPr>
              <a:t>Prometheus Alertmanager, Grafana, CI and cron jobs, any JSON or text webhook, and the CLI runner on client machines.</a:t>
            </a:r>
            <a:endParaRPr lang="en-US" sz="1400" dirty="0"/>
          </a:p>
        </p:txBody>
      </p:sp>
      <p:sp>
        <p:nvSpPr>
          <p:cNvPr id="35" name="outputs card"/>
          <p:cNvSpPr/>
          <p:nvPr/>
        </p:nvSpPr>
        <p:spPr>
          <a:xfrm>
            <a:off x="6217920" y="4343400"/>
            <a:ext cx="5394960" cy="1645920"/>
          </a:xfrm>
          <a:prstGeom prst="roundRect">
            <a:avLst>
              <a:gd name="adj" fmla="val 6667"/>
            </a:avLst>
          </a:prstGeom>
          <a:solidFill>
            <a:schemeClr val="bg2"/>
          </a:solidFill>
          <a:ln/>
        </p:spPr>
      </p:sp>
      <p:sp>
        <p:nvSpPr>
          <p:cNvPr id="36" name="Text 28"/>
          <p:cNvSpPr txBox="1"/>
          <p:nvPr/>
        </p:nvSpPr>
        <p:spPr>
          <a:xfrm>
            <a:off x="6492240" y="4526280"/>
            <a:ext cx="4846320" cy="320040"/>
          </a:xfrm>
          <a:prstGeom prst="rect">
            <a:avLst/>
          </a:prstGeom>
          <a:noFill/>
          <a:ln/>
        </p:spPr>
        <p:txBody>
          <a:bodyPr wrap="square" lIns="0" tIns="0" rIns="0" bIns="0" rtlCol="0" anchor="t"/>
          <a:lstStyle/>
          <a:p>
            <a:pPr indent="0" marL="0">
              <a:buNone/>
            </a:pPr>
            <a:r>
              <a:rPr lang="en-US" sz="1400" b="1" dirty="0">
                <a:solidFill>
                  <a:schemeClr val="accent4"/>
                </a:solidFill>
              </a:rPr>
              <a:t>Out</a:t>
            </a:r>
            <a:endParaRPr lang="en-US" sz="1400" dirty="0"/>
          </a:p>
        </p:txBody>
      </p:sp>
      <p:sp>
        <p:nvSpPr>
          <p:cNvPr id="37" name="Text 29"/>
          <p:cNvSpPr txBox="1"/>
          <p:nvPr/>
        </p:nvSpPr>
        <p:spPr>
          <a:xfrm>
            <a:off x="6492240" y="4892040"/>
            <a:ext cx="4846320" cy="1005840"/>
          </a:xfrm>
          <a:prstGeom prst="rect">
            <a:avLst/>
          </a:prstGeom>
          <a:noFill/>
          <a:ln/>
        </p:spPr>
        <p:txBody>
          <a:bodyPr wrap="square" lIns="0" tIns="0" rIns="0" bIns="0" rtlCol="0" anchor="t"/>
          <a:lstStyle/>
          <a:p>
            <a:pPr indent="0" marL="0">
              <a:buNone/>
            </a:pPr>
            <a:r>
              <a:rPr lang="en-US" sz="1400" dirty="0">
                <a:solidFill>
                  <a:schemeClr val="tx2"/>
                </a:solidFill>
              </a:rPr>
              <a:t>Slack messages updated in place, signed webhooks for any other system, and a REST API with each incident's full timeline.</a:t>
            </a: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AI-native: agents, subagents, tools and budgets</a:t>
            </a:r>
            <a:endParaRPr lang="en-US" sz="3200" dirty="0"/>
          </a:p>
        </p:txBody>
      </p:sp>
      <p:sp>
        <p:nvSpPr>
          <p:cNvPr id="3" name="triage box"/>
          <p:cNvSpPr/>
          <p:nvPr/>
        </p:nvSpPr>
        <p:spPr>
          <a:xfrm>
            <a:off x="548640" y="1600200"/>
            <a:ext cx="2377440" cy="1234440"/>
          </a:xfrm>
          <a:prstGeom prst="roundRect">
            <a:avLst>
              <a:gd name="adj" fmla="val 7407"/>
            </a:avLst>
          </a:prstGeom>
          <a:solidFill>
            <a:schemeClr val="bg2"/>
          </a:solidFill>
          <a:ln w="12700">
            <a:solidFill>
              <a:schemeClr val="accent5"/>
            </a:solidFill>
            <a:prstDash val="solid"/>
          </a:ln>
        </p:spPr>
      </p:sp>
      <p:sp>
        <p:nvSpPr>
          <p:cNvPr id="4" name="Text 2"/>
          <p:cNvSpPr txBox="1"/>
          <p:nvPr/>
        </p:nvSpPr>
        <p:spPr>
          <a:xfrm>
            <a:off x="731520" y="1737360"/>
            <a:ext cx="2011680" cy="365760"/>
          </a:xfrm>
          <a:prstGeom prst="rect">
            <a:avLst/>
          </a:prstGeom>
          <a:noFill/>
          <a:ln/>
        </p:spPr>
        <p:txBody>
          <a:bodyPr wrap="square" lIns="0" tIns="0" rIns="0" bIns="0" rtlCol="0" anchor="t"/>
          <a:lstStyle/>
          <a:p>
            <a:pPr indent="0" marL="0">
              <a:buNone/>
            </a:pPr>
            <a:r>
              <a:rPr lang="en-US" sz="1600" b="1" dirty="0">
                <a:solidFill>
                  <a:schemeClr val="tx1"/>
                </a:solidFill>
              </a:rPr>
              <a:t>Triage</a:t>
            </a:r>
            <a:endParaRPr lang="en-US" sz="1600" dirty="0"/>
          </a:p>
        </p:txBody>
      </p:sp>
      <p:sp>
        <p:nvSpPr>
          <p:cNvPr id="5" name="Text 3"/>
          <p:cNvSpPr txBox="1"/>
          <p:nvPr/>
        </p:nvSpPr>
        <p:spPr>
          <a:xfrm>
            <a:off x="731520" y="2103120"/>
            <a:ext cx="2011680" cy="640080"/>
          </a:xfrm>
          <a:prstGeom prst="rect">
            <a:avLst/>
          </a:prstGeom>
          <a:noFill/>
          <a:ln/>
        </p:spPr>
        <p:txBody>
          <a:bodyPr wrap="square" lIns="0" tIns="0" rIns="0" bIns="0" rtlCol="0" anchor="t"/>
          <a:lstStyle/>
          <a:p>
            <a:pPr indent="0" marL="0">
              <a:buNone/>
            </a:pPr>
            <a:r>
              <a:rPr lang="en-US" sz="1250" dirty="0">
                <a:solidFill>
                  <a:schemeClr val="tx2"/>
                </a:solidFill>
              </a:rPr>
              <a:t>fast model · impact, first hypothesis, worth investigating?</a:t>
            </a:r>
            <a:endParaRPr lang="en-US" sz="1250" dirty="0"/>
          </a:p>
        </p:txBody>
      </p:sp>
      <p:sp>
        <p:nvSpPr>
          <p:cNvPr id="6" name="triage to investigator"/>
          <p:cNvSpPr/>
          <p:nvPr/>
        </p:nvSpPr>
        <p:spPr>
          <a:xfrm>
            <a:off x="2926080" y="2212848"/>
            <a:ext cx="502920" cy="0"/>
          </a:xfrm>
          <a:prstGeom prst="line">
            <a:avLst/>
          </a:prstGeom>
          <a:noFill/>
          <a:ln w="19050">
            <a:solidFill>
              <a:schemeClr val="accent5"/>
            </a:solidFill>
            <a:prstDash val="solid"/>
            <a:tailEnd type="triangle"/>
          </a:ln>
        </p:spPr>
      </p:sp>
      <p:sp>
        <p:nvSpPr>
          <p:cNvPr id="7" name="investigator box"/>
          <p:cNvSpPr/>
          <p:nvPr/>
        </p:nvSpPr>
        <p:spPr>
          <a:xfrm>
            <a:off x="3429000" y="1600200"/>
            <a:ext cx="2926080" cy="1234440"/>
          </a:xfrm>
          <a:prstGeom prst="roundRect">
            <a:avLst>
              <a:gd name="adj" fmla="val 7407"/>
            </a:avLst>
          </a:prstGeom>
          <a:solidFill>
            <a:schemeClr val="tx1"/>
          </a:solidFill>
          <a:ln/>
        </p:spPr>
      </p:sp>
      <p:sp>
        <p:nvSpPr>
          <p:cNvPr id="8" name="Text 6"/>
          <p:cNvSpPr txBox="1"/>
          <p:nvPr/>
        </p:nvSpPr>
        <p:spPr>
          <a:xfrm>
            <a:off x="3611880" y="1737360"/>
            <a:ext cx="2560320" cy="365760"/>
          </a:xfrm>
          <a:prstGeom prst="rect">
            <a:avLst/>
          </a:prstGeom>
          <a:noFill/>
          <a:ln/>
        </p:spPr>
        <p:txBody>
          <a:bodyPr wrap="square" lIns="0" tIns="0" rIns="0" bIns="0" rtlCol="0" anchor="t"/>
          <a:lstStyle/>
          <a:p>
            <a:pPr indent="0" marL="0">
              <a:buNone/>
            </a:pPr>
            <a:r>
              <a:rPr lang="en-US" sz="1600" b="1" dirty="0">
                <a:solidFill>
                  <a:schemeClr val="accent1"/>
                </a:solidFill>
              </a:rPr>
              <a:t>Investigator</a:t>
            </a:r>
            <a:endParaRPr lang="en-US" sz="1600" dirty="0"/>
          </a:p>
        </p:txBody>
      </p:sp>
      <p:sp>
        <p:nvSpPr>
          <p:cNvPr id="9" name="Text 7"/>
          <p:cNvSpPr txBox="1"/>
          <p:nvPr/>
        </p:nvSpPr>
        <p:spPr>
          <a:xfrm>
            <a:off x="3611880" y="2103120"/>
            <a:ext cx="2560320" cy="640080"/>
          </a:xfrm>
          <a:prstGeom prst="rect">
            <a:avLst/>
          </a:prstGeom>
          <a:noFill/>
          <a:ln/>
        </p:spPr>
        <p:txBody>
          <a:bodyPr wrap="square" lIns="0" tIns="0" rIns="0" bIns="0" rtlCol="0" anchor="t"/>
          <a:lstStyle/>
          <a:p>
            <a:pPr indent="0" marL="0">
              <a:buNone/>
            </a:pPr>
            <a:r>
              <a:rPr lang="en-US" sz="1250" dirty="0">
                <a:solidFill>
                  <a:schemeClr val="bg2"/>
                </a:solidFill>
              </a:rPr>
              <a:t>smart model · hypotheses, delegates, converges on a root cause</a:t>
            </a:r>
            <a:endParaRPr lang="en-US" sz="1250" dirty="0"/>
          </a:p>
        </p:txBody>
      </p:sp>
      <p:sp>
        <p:nvSpPr>
          <p:cNvPr id="10" name="investigator stem"/>
          <p:cNvSpPr/>
          <p:nvPr/>
        </p:nvSpPr>
        <p:spPr>
          <a:xfrm>
            <a:off x="4892040" y="2834640"/>
            <a:ext cx="0" cy="320040"/>
          </a:xfrm>
          <a:prstGeom prst="line">
            <a:avLst/>
          </a:prstGeom>
          <a:noFill/>
          <a:ln w="19050">
            <a:solidFill>
              <a:schemeClr val="accent5"/>
            </a:solidFill>
            <a:prstDash val="solid"/>
          </a:ln>
        </p:spPr>
      </p:sp>
      <p:sp>
        <p:nvSpPr>
          <p:cNvPr id="11" name="subagent branch"/>
          <p:cNvSpPr/>
          <p:nvPr/>
        </p:nvSpPr>
        <p:spPr>
          <a:xfrm>
            <a:off x="3108960" y="3154680"/>
            <a:ext cx="3566160" cy="0"/>
          </a:xfrm>
          <a:prstGeom prst="line">
            <a:avLst/>
          </a:prstGeom>
          <a:noFill/>
          <a:ln w="19050">
            <a:solidFill>
              <a:schemeClr val="accent5"/>
            </a:solidFill>
            <a:prstDash val="solid"/>
          </a:ln>
        </p:spPr>
      </p:sp>
      <p:sp>
        <p:nvSpPr>
          <p:cNvPr id="12" name="to data analyst"/>
          <p:cNvSpPr/>
          <p:nvPr/>
        </p:nvSpPr>
        <p:spPr>
          <a:xfrm>
            <a:off x="3108960" y="3154680"/>
            <a:ext cx="0" cy="365760"/>
          </a:xfrm>
          <a:prstGeom prst="line">
            <a:avLst/>
          </a:prstGeom>
          <a:noFill/>
          <a:ln w="19050">
            <a:solidFill>
              <a:schemeClr val="accent5"/>
            </a:solidFill>
            <a:prstDash val="solid"/>
            <a:tailEnd type="triangle"/>
          </a:ln>
        </p:spPr>
      </p:sp>
      <p:sp>
        <p:nvSpPr>
          <p:cNvPr id="13" name="to history analyst"/>
          <p:cNvSpPr/>
          <p:nvPr/>
        </p:nvSpPr>
        <p:spPr>
          <a:xfrm>
            <a:off x="6675120" y="3154680"/>
            <a:ext cx="0" cy="365760"/>
          </a:xfrm>
          <a:prstGeom prst="line">
            <a:avLst/>
          </a:prstGeom>
          <a:noFill/>
          <a:ln w="19050">
            <a:solidFill>
              <a:schemeClr val="accent5"/>
            </a:solidFill>
            <a:prstDash val="solid"/>
            <a:tailEnd type="triangle"/>
          </a:ln>
        </p:spPr>
      </p:sp>
      <p:sp>
        <p:nvSpPr>
          <p:cNvPr id="14" name="data analyst box"/>
          <p:cNvSpPr/>
          <p:nvPr/>
        </p:nvSpPr>
        <p:spPr>
          <a:xfrm>
            <a:off x="1600200" y="3520440"/>
            <a:ext cx="3017520" cy="1234440"/>
          </a:xfrm>
          <a:prstGeom prst="roundRect">
            <a:avLst>
              <a:gd name="adj" fmla="val 7407"/>
            </a:avLst>
          </a:prstGeom>
          <a:solidFill>
            <a:schemeClr val="bg2"/>
          </a:solidFill>
          <a:ln w="12700">
            <a:solidFill>
              <a:schemeClr val="accent5"/>
            </a:solidFill>
            <a:prstDash val="solid"/>
          </a:ln>
        </p:spPr>
      </p:sp>
      <p:sp>
        <p:nvSpPr>
          <p:cNvPr id="15" name="Text 13"/>
          <p:cNvSpPr txBox="1"/>
          <p:nvPr/>
        </p:nvSpPr>
        <p:spPr>
          <a:xfrm>
            <a:off x="1783080" y="3657600"/>
            <a:ext cx="2651760" cy="365760"/>
          </a:xfrm>
          <a:prstGeom prst="rect">
            <a:avLst/>
          </a:prstGeom>
          <a:noFill/>
          <a:ln/>
        </p:spPr>
        <p:txBody>
          <a:bodyPr wrap="square" lIns="0" tIns="0" rIns="0" bIns="0" rtlCol="0" anchor="t"/>
          <a:lstStyle/>
          <a:p>
            <a:pPr indent="0" marL="0">
              <a:buNone/>
            </a:pPr>
            <a:r>
              <a:rPr lang="en-US" sz="1600" b="1" dirty="0">
                <a:solidFill>
                  <a:schemeClr val="tx1"/>
                </a:solidFill>
              </a:rPr>
              <a:t>Data analyst</a:t>
            </a:r>
            <a:endParaRPr lang="en-US" sz="1600" dirty="0"/>
          </a:p>
        </p:txBody>
      </p:sp>
      <p:sp>
        <p:nvSpPr>
          <p:cNvPr id="16" name="Text 14"/>
          <p:cNvSpPr txBox="1"/>
          <p:nvPr/>
        </p:nvSpPr>
        <p:spPr>
          <a:xfrm>
            <a:off x="1783080" y="4023360"/>
            <a:ext cx="2651760" cy="640080"/>
          </a:xfrm>
          <a:prstGeom prst="rect">
            <a:avLst/>
          </a:prstGeom>
          <a:noFill/>
          <a:ln/>
        </p:spPr>
        <p:txBody>
          <a:bodyPr wrap="square" lIns="0" tIns="0" rIns="0" bIns="0" rtlCol="0" anchor="t"/>
          <a:lstStyle/>
          <a:p>
            <a:pPr indent="0" marL="0">
              <a:buNone/>
            </a:pPr>
            <a:r>
              <a:rPr lang="en-US" sz="1250" dirty="0">
                <a:solidFill>
                  <a:schemeClr val="tx2"/>
                </a:solidFill>
              </a:rPr>
              <a:t>subagent · read-only SQL, table discovery, anomaly scores on Exasol</a:t>
            </a:r>
            <a:endParaRPr lang="en-US" sz="1250" dirty="0"/>
          </a:p>
        </p:txBody>
      </p:sp>
      <p:sp>
        <p:nvSpPr>
          <p:cNvPr id="17" name="history analyst box"/>
          <p:cNvSpPr/>
          <p:nvPr/>
        </p:nvSpPr>
        <p:spPr>
          <a:xfrm>
            <a:off x="5166360" y="3520440"/>
            <a:ext cx="3017520" cy="1234440"/>
          </a:xfrm>
          <a:prstGeom prst="roundRect">
            <a:avLst>
              <a:gd name="adj" fmla="val 7407"/>
            </a:avLst>
          </a:prstGeom>
          <a:solidFill>
            <a:schemeClr val="bg2"/>
          </a:solidFill>
          <a:ln w="12700">
            <a:solidFill>
              <a:schemeClr val="accent5"/>
            </a:solidFill>
            <a:prstDash val="solid"/>
          </a:ln>
        </p:spPr>
      </p:sp>
      <p:sp>
        <p:nvSpPr>
          <p:cNvPr id="18" name="Text 16"/>
          <p:cNvSpPr txBox="1"/>
          <p:nvPr/>
        </p:nvSpPr>
        <p:spPr>
          <a:xfrm>
            <a:off x="5349240" y="3657600"/>
            <a:ext cx="2651760" cy="365760"/>
          </a:xfrm>
          <a:prstGeom prst="rect">
            <a:avLst/>
          </a:prstGeom>
          <a:noFill/>
          <a:ln/>
        </p:spPr>
        <p:txBody>
          <a:bodyPr wrap="square" lIns="0" tIns="0" rIns="0" bIns="0" rtlCol="0" anchor="t"/>
          <a:lstStyle/>
          <a:p>
            <a:pPr indent="0" marL="0">
              <a:buNone/>
            </a:pPr>
            <a:r>
              <a:rPr lang="en-US" sz="1600" b="1" dirty="0">
                <a:solidFill>
                  <a:schemeClr val="tx1"/>
                </a:solidFill>
              </a:rPr>
              <a:t>History analyst</a:t>
            </a:r>
            <a:endParaRPr lang="en-US" sz="1600" dirty="0"/>
          </a:p>
        </p:txBody>
      </p:sp>
      <p:sp>
        <p:nvSpPr>
          <p:cNvPr id="19" name="Text 17"/>
          <p:cNvSpPr txBox="1"/>
          <p:nvPr/>
        </p:nvSpPr>
        <p:spPr>
          <a:xfrm>
            <a:off x="5349240" y="4023360"/>
            <a:ext cx="2651760" cy="640080"/>
          </a:xfrm>
          <a:prstGeom prst="rect">
            <a:avLst/>
          </a:prstGeom>
          <a:noFill/>
          <a:ln/>
        </p:spPr>
        <p:txBody>
          <a:bodyPr wrap="square" lIns="0" tIns="0" rIns="0" bIns="0" rtlCol="0" anchor="t"/>
          <a:lstStyle/>
          <a:p>
            <a:pPr indent="0" marL="0">
              <a:buNone/>
            </a:pPr>
            <a:r>
              <a:rPr lang="en-US" sz="1250" dirty="0">
                <a:solidFill>
                  <a:schemeClr val="tx2"/>
                </a:solidFill>
              </a:rPr>
              <a:t>subagent · past incidents, how they ended, repeats</a:t>
            </a:r>
            <a:endParaRPr lang="en-US" sz="1250" dirty="0"/>
          </a:p>
        </p:txBody>
      </p:sp>
      <p:sp>
        <p:nvSpPr>
          <p:cNvPr id="20" name="toolsets strip"/>
          <p:cNvSpPr/>
          <p:nvPr/>
        </p:nvSpPr>
        <p:spPr>
          <a:xfrm>
            <a:off x="548640" y="4983480"/>
            <a:ext cx="8183880" cy="640080"/>
          </a:xfrm>
          <a:prstGeom prst="roundRect">
            <a:avLst>
              <a:gd name="adj" fmla="val 14286"/>
            </a:avLst>
          </a:prstGeom>
          <a:solidFill>
            <a:schemeClr val="bg2"/>
          </a:solidFill>
          <a:ln/>
        </p:spPr>
      </p:sp>
      <p:sp>
        <p:nvSpPr>
          <p:cNvPr id="21" name="Text 19"/>
          <p:cNvSpPr txBox="1"/>
          <p:nvPr/>
        </p:nvSpPr>
        <p:spPr>
          <a:xfrm>
            <a:off x="777240" y="4983480"/>
            <a:ext cx="7772400" cy="640080"/>
          </a:xfrm>
          <a:prstGeom prst="rect">
            <a:avLst/>
          </a:prstGeom>
          <a:noFill/>
          <a:ln/>
        </p:spPr>
        <p:txBody>
          <a:bodyPr wrap="square" lIns="0" tIns="0" rIns="0" bIns="0" rtlCol="0" anchor="ctr"/>
          <a:lstStyle/>
          <a:p>
            <a:pPr indent="0" marL="0">
              <a:buNone/>
            </a:pPr>
            <a:r>
              <a:rPr lang="en-US" sz="1300" b="1" dirty="0">
                <a:solidFill>
                  <a:schemeClr val="tx1"/>
                </a:solidFill>
              </a:rPr>
              <a:t>Toolsets  </a:t>
            </a:r>
            <a:pPr indent="0" marL="0">
              <a:buNone/>
            </a:pPr>
            <a:r>
              <a:rPr lang="en-US" sz="1300" dirty="0">
                <a:solidFill>
                  <a:schemeClr val="tx2"/>
                </a:solidFill>
              </a:rPr>
              <a:t>incident history · action catalog · Exasol (read-only).  Write tools never run from model output.</a:t>
            </a:r>
            <a:endParaRPr lang="en-US" sz="1300" dirty="0"/>
          </a:p>
        </p:txBody>
      </p:sp>
      <p:sp>
        <p:nvSpPr>
          <p:cNvPr id="22" name="investigator to result"/>
          <p:cNvSpPr/>
          <p:nvPr/>
        </p:nvSpPr>
        <p:spPr>
          <a:xfrm>
            <a:off x="6355080" y="2212848"/>
            <a:ext cx="502920" cy="0"/>
          </a:xfrm>
          <a:prstGeom prst="line">
            <a:avLst/>
          </a:prstGeom>
          <a:noFill/>
          <a:ln w="19050">
            <a:solidFill>
              <a:schemeClr val="accent5"/>
            </a:solidFill>
            <a:prstDash val="solid"/>
            <a:tailEnd type="triangle"/>
          </a:ln>
        </p:spPr>
      </p:sp>
      <p:sp>
        <p:nvSpPr>
          <p:cNvPr id="23" name="result box"/>
          <p:cNvSpPr/>
          <p:nvPr/>
        </p:nvSpPr>
        <p:spPr>
          <a:xfrm>
            <a:off x="6858000" y="1600200"/>
            <a:ext cx="1874520" cy="1234440"/>
          </a:xfrm>
          <a:prstGeom prst="roundRect">
            <a:avLst>
              <a:gd name="adj" fmla="val 7407"/>
            </a:avLst>
          </a:prstGeom>
          <a:solidFill>
            <a:schemeClr val="bg2"/>
          </a:solidFill>
          <a:ln w="12700">
            <a:solidFill>
              <a:schemeClr val="accent5"/>
            </a:solidFill>
            <a:prstDash val="solid"/>
          </a:ln>
        </p:spPr>
      </p:sp>
      <p:sp>
        <p:nvSpPr>
          <p:cNvPr id="24" name="Text 22"/>
          <p:cNvSpPr txBox="1"/>
          <p:nvPr/>
        </p:nvSpPr>
        <p:spPr>
          <a:xfrm>
            <a:off x="7040880" y="1737360"/>
            <a:ext cx="1508760" cy="365760"/>
          </a:xfrm>
          <a:prstGeom prst="rect">
            <a:avLst/>
          </a:prstGeom>
          <a:noFill/>
          <a:ln/>
        </p:spPr>
        <p:txBody>
          <a:bodyPr wrap="square" lIns="0" tIns="0" rIns="0" bIns="0" rtlCol="0" anchor="t"/>
          <a:lstStyle/>
          <a:p>
            <a:pPr indent="0" marL="0">
              <a:buNone/>
            </a:pPr>
            <a:r>
              <a:rPr lang="en-US" sz="1600" b="1" dirty="0">
                <a:solidFill>
                  <a:schemeClr val="tx1"/>
                </a:solidFill>
              </a:rPr>
              <a:t>Result</a:t>
            </a:r>
            <a:endParaRPr lang="en-US" sz="1600" dirty="0"/>
          </a:p>
        </p:txBody>
      </p:sp>
      <p:sp>
        <p:nvSpPr>
          <p:cNvPr id="25" name="Text 23"/>
          <p:cNvSpPr txBox="1"/>
          <p:nvPr/>
        </p:nvSpPr>
        <p:spPr>
          <a:xfrm>
            <a:off x="7040880" y="2103120"/>
            <a:ext cx="1508760" cy="640080"/>
          </a:xfrm>
          <a:prstGeom prst="rect">
            <a:avLst/>
          </a:prstGeom>
          <a:noFill/>
          <a:ln/>
        </p:spPr>
        <p:txBody>
          <a:bodyPr wrap="square" lIns="0" tIns="0" rIns="0" bIns="0" rtlCol="0" anchor="t"/>
          <a:lstStyle/>
          <a:p>
            <a:pPr indent="0" marL="0">
              <a:buNone/>
            </a:pPr>
            <a:r>
              <a:rPr lang="en-US" sz="1250" dirty="0">
                <a:solidFill>
                  <a:schemeClr val="tx2"/>
                </a:solidFill>
              </a:rPr>
              <a:t>impact · root cause · evidence · action id</a:t>
            </a:r>
            <a:endParaRPr lang="en-US" sz="1250" dirty="0"/>
          </a:p>
        </p:txBody>
      </p:sp>
      <p:sp>
        <p:nvSpPr>
          <p:cNvPr id="26" name="traits card"/>
          <p:cNvSpPr/>
          <p:nvPr/>
        </p:nvSpPr>
        <p:spPr>
          <a:xfrm>
            <a:off x="8961120" y="1600200"/>
            <a:ext cx="2651760" cy="4160520"/>
          </a:xfrm>
          <a:prstGeom prst="roundRect">
            <a:avLst>
              <a:gd name="adj" fmla="val 4138"/>
            </a:avLst>
          </a:prstGeom>
          <a:solidFill>
            <a:schemeClr val="bg2"/>
          </a:solidFill>
          <a:ln/>
        </p:spPr>
      </p:sp>
      <p:sp>
        <p:nvSpPr>
          <p:cNvPr id="27" name="Text 25"/>
          <p:cNvSpPr txBox="1"/>
          <p:nvPr/>
        </p:nvSpPr>
        <p:spPr>
          <a:xfrm>
            <a:off x="9144000" y="1783080"/>
            <a:ext cx="2331720" cy="3840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Tool calling, arguments checked against each tool's schema</a:t>
            </a:r>
            <a:endParaRPr lang="en-US" sz="1300" dirty="0"/>
          </a:p>
          <a:p>
            <a:pPr marL="342900" indent="-342900">
              <a:spcAft>
                <a:spcPts val="600"/>
              </a:spcAft>
              <a:buSzPct val="100000"/>
              <a:buChar char="•"/>
            </a:pPr>
            <a:r>
              <a:rPr lang="en-US" sz="1300" dirty="0">
                <a:solidFill>
                  <a:schemeClr val="tx2"/>
                </a:solidFill>
              </a:rPr>
              <a:t>Subagents work in their own context window</a:t>
            </a:r>
            <a:endParaRPr lang="en-US" sz="1300" dirty="0"/>
          </a:p>
          <a:p>
            <a:pPr marL="342900" indent="-342900">
              <a:spcAft>
                <a:spcPts val="600"/>
              </a:spcAft>
              <a:buSzPct val="100000"/>
              <a:buChar char="•"/>
            </a:pPr>
            <a:r>
              <a:rPr lang="en-US" sz="1300" dirty="0">
                <a:solidFill>
                  <a:schemeClr val="tx2"/>
                </a:solidFill>
              </a:rPr>
              <a:t>Budgets per agent: steps, tokens, seconds, dollars</a:t>
            </a:r>
            <a:endParaRPr lang="en-US" sz="1300" dirty="0"/>
          </a:p>
          <a:p>
            <a:pPr marL="342900" indent="-342900">
              <a:spcAft>
                <a:spcPts val="600"/>
              </a:spcAft>
              <a:buSzPct val="100000"/>
              <a:buChar char="•"/>
            </a:pPr>
            <a:r>
              <a:rPr lang="en-US" sz="1300" dirty="0">
                <a:solidFill>
                  <a:schemeClr val="tx2"/>
                </a:solidFill>
              </a:rPr>
              <a:t>Structured results, validated before they are used</a:t>
            </a:r>
            <a:endParaRPr lang="en-US" sz="1300" dirty="0"/>
          </a:p>
          <a:p>
            <a:pPr marL="342900" indent="-342900">
              <a:spcAft>
                <a:spcPts val="600"/>
              </a:spcAft>
              <a:buSzPct val="100000"/>
              <a:buChar char="•"/>
            </a:pPr>
            <a:r>
              <a:rPr lang="en-US" sz="1300" dirty="0">
                <a:solidFill>
                  <a:schemeClr val="tx2"/>
                </a:solidFill>
              </a:rPr>
              <a:t>Claude, OpenAI or a local model through Ollama</a:t>
            </a:r>
            <a:endParaRPr lang="en-US" sz="1300" dirty="0"/>
          </a:p>
          <a:p>
            <a:pPr marL="342900" indent="-342900">
              <a:spcAft>
                <a:spcPts val="600"/>
              </a:spcAft>
              <a:buSzPct val="100000"/>
              <a:buChar char="•"/>
            </a:pPr>
            <a:r>
              <a:rPr lang="en-US" sz="1300" dirty="0">
                <a:solidFill>
                  <a:schemeClr val="tx2"/>
                </a:solidFill>
              </a:rPr>
              <a:t>Teams override or add agents in sentinel.yaml</a:t>
            </a:r>
            <a:endParaRPr lang="en-US" sz="1300" dirty="0"/>
          </a:p>
        </p:txBody>
      </p:sp>
      <p:sp>
        <p:nvSpPr>
          <p:cNvPr id="28" name="Text 26"/>
          <p:cNvSpPr txBox="1"/>
          <p:nvPr/>
        </p:nvSpPr>
        <p:spPr>
          <a:xfrm>
            <a:off x="548640" y="5897880"/>
            <a:ext cx="8229600" cy="320040"/>
          </a:xfrm>
          <a:prstGeom prst="rect">
            <a:avLst/>
          </a:prstGeom>
          <a:noFill/>
          <a:ln/>
        </p:spPr>
        <p:txBody>
          <a:bodyPr wrap="square" lIns="0" tIns="0" rIns="0" bIns="0" rtlCol="0" anchor="t"/>
          <a:lstStyle/>
          <a:p>
            <a:pPr indent="0" marL="0">
              <a:buNone/>
            </a:pPr>
            <a:r>
              <a:rPr lang="en-US" sz="1300" i="1" dirty="0">
                <a:solidFill>
                  <a:schemeClr val="accent4"/>
                </a:solidFill>
              </a:rPr>
              <a:t>Every model call and tool call is recorded: AGENT_RUNS, AGENT_STEPS, EVIDENCE.</a:t>
            </a:r>
            <a:endParaRPr lang="en-US" sz="13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Exasol is the system of record and the investigation surface</a:t>
            </a:r>
            <a:endParaRPr lang="en-US" sz="3200" dirty="0"/>
          </a:p>
        </p:txBody>
      </p:sp>
      <p:sp>
        <p:nvSpPr>
          <p:cNvPr id="3" name="exasol 1"/>
          <p:cNvSpPr/>
          <p:nvPr/>
        </p:nvSpPr>
        <p:spPr>
          <a:xfrm>
            <a:off x="548640" y="1508760"/>
            <a:ext cx="3520440" cy="2103120"/>
          </a:xfrm>
          <a:prstGeom prst="roundRect">
            <a:avLst>
              <a:gd name="adj" fmla="val 5217"/>
            </a:avLst>
          </a:prstGeom>
          <a:solidFill>
            <a:schemeClr val="bg2"/>
          </a:solidFill>
          <a:ln/>
        </p:spPr>
      </p:sp>
      <p:sp>
        <p:nvSpPr>
          <p:cNvPr id="4" name="exasol 1 circle"/>
          <p:cNvSpPr/>
          <p:nvPr/>
        </p:nvSpPr>
        <p:spPr>
          <a:xfrm>
            <a:off x="822960" y="1783080"/>
            <a:ext cx="640080" cy="640080"/>
          </a:xfrm>
          <a:prstGeom prst="ellipse">
            <a:avLst/>
          </a:prstGeom>
          <a:solidFill>
            <a:schemeClr val="accent1"/>
          </a:solidFill>
          <a:ln/>
        </p:spPr>
      </p:sp>
      <p:pic>
        <p:nvPicPr>
          <p:cNvPr id="5" name="exasol 1 icon" descr="preencoded.png">    </p:cNvPr>
          <p:cNvPicPr>
            <a:picLocks noChangeAspect="1"/>
          </p:cNvPicPr>
          <p:nvPr/>
        </p:nvPicPr>
        <p:blipFill>
          <a:blip r:embed="rId1"/>
          <a:stretch>
            <a:fillRect/>
          </a:stretch>
        </p:blipFill>
        <p:spPr>
          <a:xfrm>
            <a:off x="982980" y="1943100"/>
            <a:ext cx="320040" cy="320040"/>
          </a:xfrm>
          <a:prstGeom prst="rect">
            <a:avLst/>
          </a:prstGeom>
        </p:spPr>
      </p:pic>
      <p:sp>
        <p:nvSpPr>
          <p:cNvPr id="6" name="Text 3"/>
          <p:cNvSpPr txBox="1"/>
          <p:nvPr/>
        </p:nvSpPr>
        <p:spPr>
          <a:xfrm>
            <a:off x="1600200" y="1856232"/>
            <a:ext cx="2331720" cy="502920"/>
          </a:xfrm>
          <a:prstGeom prst="rect">
            <a:avLst/>
          </a:prstGeom>
          <a:noFill/>
          <a:ln/>
        </p:spPr>
        <p:txBody>
          <a:bodyPr wrap="square" lIns="0" tIns="0" rIns="0" bIns="0" rtlCol="0" anchor="ctr"/>
          <a:lstStyle/>
          <a:p>
            <a:pPr indent="0" marL="0">
              <a:buNone/>
            </a:pPr>
            <a:r>
              <a:rPr lang="en-US" sz="1800" b="1" dirty="0">
                <a:solidFill>
                  <a:schemeClr val="tx1"/>
                </a:solidFill>
              </a:rPr>
              <a:t>Platform schema</a:t>
            </a:r>
            <a:endParaRPr lang="en-US" sz="1800" dirty="0"/>
          </a:p>
        </p:txBody>
      </p:sp>
      <p:sp>
        <p:nvSpPr>
          <p:cNvPr id="7" name="Text 4"/>
          <p:cNvSpPr txBox="1"/>
          <p:nvPr/>
        </p:nvSpPr>
        <p:spPr>
          <a:xfrm>
            <a:off x="822960" y="2560320"/>
            <a:ext cx="3017520" cy="960120"/>
          </a:xfrm>
          <a:prstGeom prst="rect">
            <a:avLst/>
          </a:prstGeom>
          <a:noFill/>
          <a:ln/>
        </p:spPr>
        <p:txBody>
          <a:bodyPr wrap="square" lIns="0" tIns="0" rIns="0" bIns="0" rtlCol="0" anchor="t"/>
          <a:lstStyle/>
          <a:p>
            <a:pPr indent="0" marL="0">
              <a:buNone/>
            </a:pPr>
            <a:r>
              <a:rPr lang="en-US" sz="1400" dirty="0">
                <a:solidFill>
                  <a:schemeClr val="tx2"/>
                </a:solidFill>
              </a:rPr>
              <a:t>Incidents, signals, timeline and every config version in OPS_SENTINEL.</a:t>
            </a:r>
            <a:endParaRPr lang="en-US" sz="1400" dirty="0"/>
          </a:p>
        </p:txBody>
      </p:sp>
      <p:sp>
        <p:nvSpPr>
          <p:cNvPr id="8" name="exasol 2"/>
          <p:cNvSpPr/>
          <p:nvPr/>
        </p:nvSpPr>
        <p:spPr>
          <a:xfrm>
            <a:off x="4297680" y="1508760"/>
            <a:ext cx="3520440" cy="2103120"/>
          </a:xfrm>
          <a:prstGeom prst="roundRect">
            <a:avLst>
              <a:gd name="adj" fmla="val 5217"/>
            </a:avLst>
          </a:prstGeom>
          <a:solidFill>
            <a:schemeClr val="bg2"/>
          </a:solidFill>
          <a:ln/>
        </p:spPr>
      </p:sp>
      <p:sp>
        <p:nvSpPr>
          <p:cNvPr id="9" name="exasol 2 circle"/>
          <p:cNvSpPr/>
          <p:nvPr/>
        </p:nvSpPr>
        <p:spPr>
          <a:xfrm>
            <a:off x="4572000" y="1783080"/>
            <a:ext cx="640080" cy="640080"/>
          </a:xfrm>
          <a:prstGeom prst="ellipse">
            <a:avLst/>
          </a:prstGeom>
          <a:solidFill>
            <a:schemeClr val="accent1"/>
          </a:solidFill>
          <a:ln/>
        </p:spPr>
      </p:sp>
      <p:pic>
        <p:nvPicPr>
          <p:cNvPr id="10" name="exasol 2 icon" descr="preencoded.png">    </p:cNvPr>
          <p:cNvPicPr>
            <a:picLocks noChangeAspect="1"/>
          </p:cNvPicPr>
          <p:nvPr/>
        </p:nvPicPr>
        <p:blipFill>
          <a:blip r:embed="rId2"/>
          <a:stretch>
            <a:fillRect/>
          </a:stretch>
        </p:blipFill>
        <p:spPr>
          <a:xfrm>
            <a:off x="4732020" y="1943100"/>
            <a:ext cx="320040" cy="320040"/>
          </a:xfrm>
          <a:prstGeom prst="rect">
            <a:avLst/>
          </a:prstGeom>
        </p:spPr>
      </p:pic>
      <p:sp>
        <p:nvSpPr>
          <p:cNvPr id="11" name="Text 7"/>
          <p:cNvSpPr txBox="1"/>
          <p:nvPr/>
        </p:nvSpPr>
        <p:spPr>
          <a:xfrm>
            <a:off x="5349240" y="1856232"/>
            <a:ext cx="2331720" cy="502920"/>
          </a:xfrm>
          <a:prstGeom prst="rect">
            <a:avLst/>
          </a:prstGeom>
          <a:noFill/>
          <a:ln/>
        </p:spPr>
        <p:txBody>
          <a:bodyPr wrap="square" lIns="0" tIns="0" rIns="0" bIns="0" rtlCol="0" anchor="ctr"/>
          <a:lstStyle/>
          <a:p>
            <a:pPr indent="0" marL="0">
              <a:buNone/>
            </a:pPr>
            <a:r>
              <a:rPr lang="en-US" sz="1800" b="1" dirty="0">
                <a:solidFill>
                  <a:schemeClr val="tx1"/>
                </a:solidFill>
              </a:rPr>
              <a:t>Job queue</a:t>
            </a:r>
            <a:endParaRPr lang="en-US" sz="1800" dirty="0"/>
          </a:p>
        </p:txBody>
      </p:sp>
      <p:sp>
        <p:nvSpPr>
          <p:cNvPr id="12" name="Text 8"/>
          <p:cNvSpPr txBox="1"/>
          <p:nvPr/>
        </p:nvSpPr>
        <p:spPr>
          <a:xfrm>
            <a:off x="4572000" y="2560320"/>
            <a:ext cx="3017520" cy="960120"/>
          </a:xfrm>
          <a:prstGeom prst="rect">
            <a:avLst/>
          </a:prstGeom>
          <a:noFill/>
          <a:ln/>
        </p:spPr>
        <p:txBody>
          <a:bodyPr wrap="square" lIns="0" tIns="0" rIns="0" bIns="0" rtlCol="0" anchor="t"/>
          <a:lstStyle/>
          <a:p>
            <a:pPr indent="0" marL="0">
              <a:buNone/>
            </a:pPr>
            <a:r>
              <a:rPr lang="en-US" sz="1400" dirty="0">
                <a:solidFill>
                  <a:schemeClr val="tx2"/>
                </a:solidFill>
              </a:rPr>
              <a:t>Leases, retries and dead letters in a table. No message broker to run.</a:t>
            </a:r>
            <a:endParaRPr lang="en-US" sz="1400" dirty="0"/>
          </a:p>
        </p:txBody>
      </p:sp>
      <p:sp>
        <p:nvSpPr>
          <p:cNvPr id="13" name="exasol 3"/>
          <p:cNvSpPr/>
          <p:nvPr/>
        </p:nvSpPr>
        <p:spPr>
          <a:xfrm>
            <a:off x="8046720" y="1508760"/>
            <a:ext cx="3520440" cy="2103120"/>
          </a:xfrm>
          <a:prstGeom prst="roundRect">
            <a:avLst>
              <a:gd name="adj" fmla="val 5217"/>
            </a:avLst>
          </a:prstGeom>
          <a:solidFill>
            <a:schemeClr val="bg2"/>
          </a:solidFill>
          <a:ln/>
        </p:spPr>
      </p:sp>
      <p:sp>
        <p:nvSpPr>
          <p:cNvPr id="14" name="exasol 3 circle"/>
          <p:cNvSpPr/>
          <p:nvPr/>
        </p:nvSpPr>
        <p:spPr>
          <a:xfrm>
            <a:off x="8321040" y="1783080"/>
            <a:ext cx="640080" cy="640080"/>
          </a:xfrm>
          <a:prstGeom prst="ellipse">
            <a:avLst/>
          </a:prstGeom>
          <a:solidFill>
            <a:schemeClr val="accent1"/>
          </a:solidFill>
          <a:ln/>
        </p:spPr>
      </p:sp>
      <p:pic>
        <p:nvPicPr>
          <p:cNvPr id="15" name="exasol 3 icon" descr="preencoded.png">    </p:cNvPr>
          <p:cNvPicPr>
            <a:picLocks noChangeAspect="1"/>
          </p:cNvPicPr>
          <p:nvPr/>
        </p:nvPicPr>
        <p:blipFill>
          <a:blip r:embed="rId3"/>
          <a:stretch>
            <a:fillRect/>
          </a:stretch>
        </p:blipFill>
        <p:spPr>
          <a:xfrm>
            <a:off x="8481060" y="1943100"/>
            <a:ext cx="320040" cy="320040"/>
          </a:xfrm>
          <a:prstGeom prst="rect">
            <a:avLst/>
          </a:prstGeom>
        </p:spPr>
      </p:pic>
      <p:sp>
        <p:nvSpPr>
          <p:cNvPr id="16" name="Text 11"/>
          <p:cNvSpPr txBox="1"/>
          <p:nvPr/>
        </p:nvSpPr>
        <p:spPr>
          <a:xfrm>
            <a:off x="9098280" y="1856232"/>
            <a:ext cx="2331720" cy="502920"/>
          </a:xfrm>
          <a:prstGeom prst="rect">
            <a:avLst/>
          </a:prstGeom>
          <a:noFill/>
          <a:ln/>
        </p:spPr>
        <p:txBody>
          <a:bodyPr wrap="square" lIns="0" tIns="0" rIns="0" bIns="0" rtlCol="0" anchor="ctr"/>
          <a:lstStyle/>
          <a:p>
            <a:pPr indent="0" marL="0">
              <a:buNone/>
            </a:pPr>
            <a:r>
              <a:rPr lang="en-US" sz="1800" b="1" dirty="0">
                <a:solidFill>
                  <a:schemeClr val="tx1"/>
                </a:solidFill>
              </a:rPr>
              <a:t>Agent memory and audit</a:t>
            </a:r>
            <a:endParaRPr lang="en-US" sz="1800" dirty="0"/>
          </a:p>
        </p:txBody>
      </p:sp>
      <p:sp>
        <p:nvSpPr>
          <p:cNvPr id="17" name="Text 12"/>
          <p:cNvSpPr txBox="1"/>
          <p:nvPr/>
        </p:nvSpPr>
        <p:spPr>
          <a:xfrm>
            <a:off x="8321040" y="2560320"/>
            <a:ext cx="3017520" cy="960120"/>
          </a:xfrm>
          <a:prstGeom prst="rect">
            <a:avLst/>
          </a:prstGeom>
          <a:noFill/>
          <a:ln/>
        </p:spPr>
        <p:txBody>
          <a:bodyPr wrap="square" lIns="0" tIns="0" rIns="0" bIns="0" rtlCol="0" anchor="t"/>
          <a:lstStyle/>
          <a:p>
            <a:pPr indent="0" marL="0">
              <a:buNone/>
            </a:pPr>
            <a:r>
              <a:rPr lang="en-US" sz="1400" dirty="0">
                <a:solidFill>
                  <a:schemeClr val="tx2"/>
                </a:solidFill>
              </a:rPr>
              <a:t>Runs, steps and full tool output as evidence, queryable with SQL.</a:t>
            </a:r>
            <a:endParaRPr lang="en-US" sz="1400" dirty="0"/>
          </a:p>
        </p:txBody>
      </p:sp>
      <p:sp>
        <p:nvSpPr>
          <p:cNvPr id="18" name="exasol 4"/>
          <p:cNvSpPr/>
          <p:nvPr/>
        </p:nvSpPr>
        <p:spPr>
          <a:xfrm>
            <a:off x="548640" y="3840480"/>
            <a:ext cx="3520440" cy="2103120"/>
          </a:xfrm>
          <a:prstGeom prst="roundRect">
            <a:avLst>
              <a:gd name="adj" fmla="val 5217"/>
            </a:avLst>
          </a:prstGeom>
          <a:solidFill>
            <a:schemeClr val="bg2"/>
          </a:solidFill>
          <a:ln/>
        </p:spPr>
      </p:sp>
      <p:sp>
        <p:nvSpPr>
          <p:cNvPr id="19" name="exasol 4 circle"/>
          <p:cNvSpPr/>
          <p:nvPr/>
        </p:nvSpPr>
        <p:spPr>
          <a:xfrm>
            <a:off x="822960" y="4114800"/>
            <a:ext cx="640080" cy="640080"/>
          </a:xfrm>
          <a:prstGeom prst="ellipse">
            <a:avLst/>
          </a:prstGeom>
          <a:solidFill>
            <a:schemeClr val="accent1"/>
          </a:solidFill>
          <a:ln/>
        </p:spPr>
      </p:sp>
      <p:pic>
        <p:nvPicPr>
          <p:cNvPr id="20" name="exasol 4 icon" descr="preencoded.png">    </p:cNvPr>
          <p:cNvPicPr>
            <a:picLocks noChangeAspect="1"/>
          </p:cNvPicPr>
          <p:nvPr/>
        </p:nvPicPr>
        <p:blipFill>
          <a:blip r:embed="rId4"/>
          <a:stretch>
            <a:fillRect/>
          </a:stretch>
        </p:blipFill>
        <p:spPr>
          <a:xfrm>
            <a:off x="982980" y="4274820"/>
            <a:ext cx="320040" cy="320040"/>
          </a:xfrm>
          <a:prstGeom prst="rect">
            <a:avLst/>
          </a:prstGeom>
        </p:spPr>
      </p:pic>
      <p:sp>
        <p:nvSpPr>
          <p:cNvPr id="21" name="Text 15"/>
          <p:cNvSpPr txBox="1"/>
          <p:nvPr/>
        </p:nvSpPr>
        <p:spPr>
          <a:xfrm>
            <a:off x="1600200" y="4187952"/>
            <a:ext cx="2331720" cy="502920"/>
          </a:xfrm>
          <a:prstGeom prst="rect">
            <a:avLst/>
          </a:prstGeom>
          <a:noFill/>
          <a:ln/>
        </p:spPr>
        <p:txBody>
          <a:bodyPr wrap="square" lIns="0" tIns="0" rIns="0" bIns="0" rtlCol="0" anchor="ctr"/>
          <a:lstStyle/>
          <a:p>
            <a:pPr indent="0" marL="0">
              <a:buNone/>
            </a:pPr>
            <a:r>
              <a:rPr lang="en-US" sz="1800" b="1" dirty="0">
                <a:solidFill>
                  <a:schemeClr val="tx1"/>
                </a:solidFill>
              </a:rPr>
              <a:t>Read-only investigation</a:t>
            </a:r>
            <a:endParaRPr lang="en-US" sz="1800" dirty="0"/>
          </a:p>
        </p:txBody>
      </p:sp>
      <p:sp>
        <p:nvSpPr>
          <p:cNvPr id="22" name="Text 16"/>
          <p:cNvSpPr txBox="1"/>
          <p:nvPr/>
        </p:nvSpPr>
        <p:spPr>
          <a:xfrm>
            <a:off x="822960" y="4892040"/>
            <a:ext cx="3017520" cy="960120"/>
          </a:xfrm>
          <a:prstGeom prst="rect">
            <a:avLst/>
          </a:prstGeom>
          <a:noFill/>
          <a:ln/>
        </p:spPr>
        <p:txBody>
          <a:bodyPr wrap="square" lIns="0" tIns="0" rIns="0" bIns="0" rtlCol="0" anchor="t"/>
          <a:lstStyle/>
          <a:p>
            <a:pPr indent="0" marL="0">
              <a:buNone/>
            </a:pPr>
            <a:r>
              <a:rPr lang="en-US" sz="1400" dirty="0">
                <a:solidFill>
                  <a:schemeClr val="tx2"/>
                </a:solidFill>
              </a:rPr>
              <a:t>Agents query pipelines, lineage and costs as mcp_readonly.</a:t>
            </a:r>
            <a:endParaRPr lang="en-US" sz="1400" dirty="0"/>
          </a:p>
        </p:txBody>
      </p:sp>
      <p:sp>
        <p:nvSpPr>
          <p:cNvPr id="23" name="exasol 5"/>
          <p:cNvSpPr/>
          <p:nvPr/>
        </p:nvSpPr>
        <p:spPr>
          <a:xfrm>
            <a:off x="4297680" y="3840480"/>
            <a:ext cx="3520440" cy="2103120"/>
          </a:xfrm>
          <a:prstGeom prst="roundRect">
            <a:avLst>
              <a:gd name="adj" fmla="val 5217"/>
            </a:avLst>
          </a:prstGeom>
          <a:solidFill>
            <a:schemeClr val="bg2"/>
          </a:solidFill>
          <a:ln/>
        </p:spPr>
      </p:sp>
      <p:sp>
        <p:nvSpPr>
          <p:cNvPr id="24" name="exasol 5 circle"/>
          <p:cNvSpPr/>
          <p:nvPr/>
        </p:nvSpPr>
        <p:spPr>
          <a:xfrm>
            <a:off x="4572000" y="4114800"/>
            <a:ext cx="640080" cy="640080"/>
          </a:xfrm>
          <a:prstGeom prst="ellipse">
            <a:avLst/>
          </a:prstGeom>
          <a:solidFill>
            <a:schemeClr val="accent1"/>
          </a:solidFill>
          <a:ln/>
        </p:spPr>
      </p:sp>
      <p:pic>
        <p:nvPicPr>
          <p:cNvPr id="25" name="exasol 5 icon" descr="preencoded.png">    </p:cNvPr>
          <p:cNvPicPr>
            <a:picLocks noChangeAspect="1"/>
          </p:cNvPicPr>
          <p:nvPr/>
        </p:nvPicPr>
        <p:blipFill>
          <a:blip r:embed="rId5"/>
          <a:stretch>
            <a:fillRect/>
          </a:stretch>
        </p:blipFill>
        <p:spPr>
          <a:xfrm>
            <a:off x="4732020" y="4274820"/>
            <a:ext cx="320040" cy="320040"/>
          </a:xfrm>
          <a:prstGeom prst="rect">
            <a:avLst/>
          </a:prstGeom>
        </p:spPr>
      </p:pic>
      <p:sp>
        <p:nvSpPr>
          <p:cNvPr id="26" name="Text 19"/>
          <p:cNvSpPr txBox="1"/>
          <p:nvPr/>
        </p:nvSpPr>
        <p:spPr>
          <a:xfrm>
            <a:off x="5349240" y="4187952"/>
            <a:ext cx="2331720" cy="502920"/>
          </a:xfrm>
          <a:prstGeom prst="rect">
            <a:avLst/>
          </a:prstGeom>
          <a:noFill/>
          <a:ln/>
        </p:spPr>
        <p:txBody>
          <a:bodyPr wrap="square" lIns="0" tIns="0" rIns="0" bIns="0" rtlCol="0" anchor="ctr"/>
          <a:lstStyle/>
          <a:p>
            <a:pPr indent="0" marL="0">
              <a:buNone/>
            </a:pPr>
            <a:r>
              <a:rPr lang="en-US" sz="1800" b="1" dirty="0">
                <a:solidFill>
                  <a:schemeClr val="tx1"/>
                </a:solidFill>
              </a:rPr>
              <a:t>Python UDFs</a:t>
            </a:r>
            <a:endParaRPr lang="en-US" sz="1800" dirty="0"/>
          </a:p>
        </p:txBody>
      </p:sp>
      <p:sp>
        <p:nvSpPr>
          <p:cNvPr id="27" name="Text 20"/>
          <p:cNvSpPr txBox="1"/>
          <p:nvPr/>
        </p:nvSpPr>
        <p:spPr>
          <a:xfrm>
            <a:off x="4572000" y="4892040"/>
            <a:ext cx="3017520" cy="960120"/>
          </a:xfrm>
          <a:prstGeom prst="rect">
            <a:avLst/>
          </a:prstGeom>
          <a:noFill/>
          <a:ln/>
        </p:spPr>
        <p:txBody>
          <a:bodyPr wrap="square" lIns="0" tIns="0" rIns="0" bIns="0" rtlCol="0" anchor="t"/>
          <a:lstStyle/>
          <a:p>
            <a:pPr indent="0" marL="0">
              <a:buNone/>
            </a:pPr>
            <a:r>
              <a:rPr lang="en-US" sz="1400" dirty="0">
                <a:solidFill>
                  <a:schemeClr val="tx2"/>
                </a:solidFill>
              </a:rPr>
              <a:t>FINGERPRINT, VECTOR_COSINE, ROBUST_ZSCORE: the logic runs next to the data.</a:t>
            </a:r>
            <a:endParaRPr lang="en-US" sz="1400" dirty="0"/>
          </a:p>
        </p:txBody>
      </p:sp>
      <p:sp>
        <p:nvSpPr>
          <p:cNvPr id="28" name="exasol 6"/>
          <p:cNvSpPr/>
          <p:nvPr/>
        </p:nvSpPr>
        <p:spPr>
          <a:xfrm>
            <a:off x="8046720" y="3840480"/>
            <a:ext cx="3520440" cy="2103120"/>
          </a:xfrm>
          <a:prstGeom prst="roundRect">
            <a:avLst>
              <a:gd name="adj" fmla="val 5217"/>
            </a:avLst>
          </a:prstGeom>
          <a:solidFill>
            <a:schemeClr val="bg2"/>
          </a:solidFill>
          <a:ln/>
        </p:spPr>
      </p:sp>
      <p:sp>
        <p:nvSpPr>
          <p:cNvPr id="29" name="exasol 6 circle"/>
          <p:cNvSpPr/>
          <p:nvPr/>
        </p:nvSpPr>
        <p:spPr>
          <a:xfrm>
            <a:off x="8321040" y="4114800"/>
            <a:ext cx="640080" cy="640080"/>
          </a:xfrm>
          <a:prstGeom prst="ellipse">
            <a:avLst/>
          </a:prstGeom>
          <a:solidFill>
            <a:schemeClr val="accent1"/>
          </a:solidFill>
          <a:ln/>
        </p:spPr>
      </p:sp>
      <p:pic>
        <p:nvPicPr>
          <p:cNvPr id="30" name="exasol 6 icon" descr="preencoded.png">    </p:cNvPr>
          <p:cNvPicPr>
            <a:picLocks noChangeAspect="1"/>
          </p:cNvPicPr>
          <p:nvPr/>
        </p:nvPicPr>
        <p:blipFill>
          <a:blip r:embed="rId6"/>
          <a:stretch>
            <a:fillRect/>
          </a:stretch>
        </p:blipFill>
        <p:spPr>
          <a:xfrm>
            <a:off x="8481060" y="4274820"/>
            <a:ext cx="320040" cy="320040"/>
          </a:xfrm>
          <a:prstGeom prst="rect">
            <a:avLst/>
          </a:prstGeom>
        </p:spPr>
      </p:pic>
      <p:sp>
        <p:nvSpPr>
          <p:cNvPr id="31" name="Text 23"/>
          <p:cNvSpPr txBox="1"/>
          <p:nvPr/>
        </p:nvSpPr>
        <p:spPr>
          <a:xfrm>
            <a:off x="9098280" y="4187952"/>
            <a:ext cx="2331720" cy="502920"/>
          </a:xfrm>
          <a:prstGeom prst="rect">
            <a:avLst/>
          </a:prstGeom>
          <a:noFill/>
          <a:ln/>
        </p:spPr>
        <p:txBody>
          <a:bodyPr wrap="square" lIns="0" tIns="0" rIns="0" bIns="0" rtlCol="0" anchor="ctr"/>
          <a:lstStyle/>
          <a:p>
            <a:pPr indent="0" marL="0">
              <a:buNone/>
            </a:pPr>
            <a:r>
              <a:rPr lang="en-US" sz="1800" b="1" dirty="0">
                <a:solidFill>
                  <a:schemeClr val="tx1"/>
                </a:solidFill>
              </a:rPr>
              <a:t>Least privilege</a:t>
            </a:r>
            <a:endParaRPr lang="en-US" sz="1800" dirty="0"/>
          </a:p>
        </p:txBody>
      </p:sp>
      <p:sp>
        <p:nvSpPr>
          <p:cNvPr id="32" name="Text 24"/>
          <p:cNvSpPr txBox="1"/>
          <p:nvPr/>
        </p:nvSpPr>
        <p:spPr>
          <a:xfrm>
            <a:off x="8321040" y="4892040"/>
            <a:ext cx="3017520" cy="960120"/>
          </a:xfrm>
          <a:prstGeom prst="rect">
            <a:avLst/>
          </a:prstGeom>
          <a:noFill/>
          <a:ln/>
        </p:spPr>
        <p:txBody>
          <a:bodyPr wrap="square" lIns="0" tIns="0" rIns="0" bIns="0" rtlCol="0" anchor="t"/>
          <a:lstStyle/>
          <a:p>
            <a:pPr indent="0" marL="0">
              <a:buNone/>
            </a:pPr>
            <a:r>
              <a:rPr lang="en-US" sz="1400" dirty="0">
                <a:solidFill>
                  <a:schemeClr val="tx2"/>
                </a:solidFill>
              </a:rPr>
              <a:t>Separate users to migrate, run, fix and investigate. The audit log is append-only.</a:t>
            </a: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Fast, but never unsupervised</a:t>
            </a:r>
            <a:endParaRPr lang="en-US" sz="3200" dirty="0"/>
          </a:p>
        </p:txBody>
      </p:sp>
      <p:sp>
        <p:nvSpPr>
          <p:cNvPr id="3" name="guard 1 circle"/>
          <p:cNvSpPr/>
          <p:nvPr/>
        </p:nvSpPr>
        <p:spPr>
          <a:xfrm>
            <a:off x="548640" y="1508760"/>
            <a:ext cx="640080" cy="640080"/>
          </a:xfrm>
          <a:prstGeom prst="ellipse">
            <a:avLst/>
          </a:prstGeom>
          <a:solidFill>
            <a:schemeClr val="tx1"/>
          </a:solidFill>
          <a:ln/>
        </p:spPr>
      </p:sp>
      <p:pic>
        <p:nvPicPr>
          <p:cNvPr id="4" name="guard 1 icon" descr="preencoded.png">    </p:cNvPr>
          <p:cNvPicPr>
            <a:picLocks noChangeAspect="1"/>
          </p:cNvPicPr>
          <p:nvPr/>
        </p:nvPicPr>
        <p:blipFill>
          <a:blip r:embed="rId1"/>
          <a:stretch>
            <a:fillRect/>
          </a:stretch>
        </p:blipFill>
        <p:spPr>
          <a:xfrm>
            <a:off x="708660" y="1668780"/>
            <a:ext cx="320040" cy="320040"/>
          </a:xfrm>
          <a:prstGeom prst="rect">
            <a:avLst/>
          </a:prstGeom>
        </p:spPr>
      </p:pic>
      <p:sp>
        <p:nvSpPr>
          <p:cNvPr id="5" name="Text 2"/>
          <p:cNvSpPr txBox="1"/>
          <p:nvPr/>
        </p:nvSpPr>
        <p:spPr>
          <a:xfrm>
            <a:off x="1417320" y="1463040"/>
            <a:ext cx="4572000" cy="365760"/>
          </a:xfrm>
          <a:prstGeom prst="rect">
            <a:avLst/>
          </a:prstGeom>
          <a:noFill/>
          <a:ln/>
        </p:spPr>
        <p:txBody>
          <a:bodyPr wrap="square" lIns="0" tIns="0" rIns="0" bIns="0" rtlCol="0" anchor="t"/>
          <a:lstStyle/>
          <a:p>
            <a:pPr indent="0" marL="0">
              <a:buNone/>
            </a:pPr>
            <a:r>
              <a:rPr lang="en-US" sz="1800" b="1" dirty="0">
                <a:solidFill>
                  <a:schemeClr val="tx1"/>
                </a:solidFill>
              </a:rPr>
              <a:t>Agents are read-only</a:t>
            </a:r>
            <a:endParaRPr lang="en-US" sz="1800" dirty="0"/>
          </a:p>
        </p:txBody>
      </p:sp>
      <p:sp>
        <p:nvSpPr>
          <p:cNvPr id="6" name="Text 3"/>
          <p:cNvSpPr txBox="1"/>
          <p:nvPr/>
        </p:nvSpPr>
        <p:spPr>
          <a:xfrm>
            <a:off x="1417320" y="1847088"/>
            <a:ext cx="4572000" cy="731520"/>
          </a:xfrm>
          <a:prstGeom prst="rect">
            <a:avLst/>
          </a:prstGeom>
          <a:noFill/>
          <a:ln/>
        </p:spPr>
        <p:txBody>
          <a:bodyPr wrap="square" lIns="0" tIns="0" rIns="0" bIns="0" rtlCol="0" anchor="t"/>
          <a:lstStyle/>
          <a:p>
            <a:pPr indent="0" marL="0">
              <a:buNone/>
            </a:pPr>
            <a:r>
              <a:rPr lang="en-US" sz="1400" dirty="0">
                <a:solidFill>
                  <a:schemeClr val="tx2"/>
                </a:solidFill>
              </a:rPr>
              <a:t>Write tools are refused when a model calls them, and the attempt is recorded.</a:t>
            </a:r>
            <a:endParaRPr lang="en-US" sz="1400" dirty="0"/>
          </a:p>
        </p:txBody>
      </p:sp>
      <p:sp>
        <p:nvSpPr>
          <p:cNvPr id="7" name="guard 2 circle"/>
          <p:cNvSpPr/>
          <p:nvPr/>
        </p:nvSpPr>
        <p:spPr>
          <a:xfrm>
            <a:off x="6172200" y="1508760"/>
            <a:ext cx="640080" cy="640080"/>
          </a:xfrm>
          <a:prstGeom prst="ellipse">
            <a:avLst/>
          </a:prstGeom>
          <a:solidFill>
            <a:schemeClr val="tx1"/>
          </a:solidFill>
          <a:ln/>
        </p:spPr>
      </p:sp>
      <p:pic>
        <p:nvPicPr>
          <p:cNvPr id="8" name="guard 2 icon" descr="preencoded.png">    </p:cNvPr>
          <p:cNvPicPr>
            <a:picLocks noChangeAspect="1"/>
          </p:cNvPicPr>
          <p:nvPr/>
        </p:nvPicPr>
        <p:blipFill>
          <a:blip r:embed="rId2"/>
          <a:stretch>
            <a:fillRect/>
          </a:stretch>
        </p:blipFill>
        <p:spPr>
          <a:xfrm>
            <a:off x="6332220" y="1668780"/>
            <a:ext cx="320040" cy="320040"/>
          </a:xfrm>
          <a:prstGeom prst="rect">
            <a:avLst/>
          </a:prstGeom>
        </p:spPr>
      </p:pic>
      <p:sp>
        <p:nvSpPr>
          <p:cNvPr id="9" name="Text 5"/>
          <p:cNvSpPr txBox="1"/>
          <p:nvPr/>
        </p:nvSpPr>
        <p:spPr>
          <a:xfrm>
            <a:off x="7040880" y="1463040"/>
            <a:ext cx="4572000" cy="365760"/>
          </a:xfrm>
          <a:prstGeom prst="rect">
            <a:avLst/>
          </a:prstGeom>
          <a:noFill/>
          <a:ln/>
        </p:spPr>
        <p:txBody>
          <a:bodyPr wrap="square" lIns="0" tIns="0" rIns="0" bIns="0" rtlCol="0" anchor="t"/>
          <a:lstStyle/>
          <a:p>
            <a:pPr indent="0" marL="0">
              <a:buNone/>
            </a:pPr>
            <a:r>
              <a:rPr lang="en-US" sz="1800" b="1" dirty="0">
                <a:solidFill>
                  <a:schemeClr val="tx1"/>
                </a:solidFill>
              </a:rPr>
              <a:t>Model input is data</a:t>
            </a:r>
            <a:endParaRPr lang="en-US" sz="1800" dirty="0"/>
          </a:p>
        </p:txBody>
      </p:sp>
      <p:sp>
        <p:nvSpPr>
          <p:cNvPr id="10" name="Text 6"/>
          <p:cNvSpPr txBox="1"/>
          <p:nvPr/>
        </p:nvSpPr>
        <p:spPr>
          <a:xfrm>
            <a:off x="7040880" y="1847088"/>
            <a:ext cx="4572000" cy="731520"/>
          </a:xfrm>
          <a:prstGeom prst="rect">
            <a:avLst/>
          </a:prstGeom>
          <a:noFill/>
          <a:ln/>
        </p:spPr>
        <p:txBody>
          <a:bodyPr wrap="square" lIns="0" tIns="0" rIns="0" bIns="0" rtlCol="0" anchor="t"/>
          <a:lstStyle/>
          <a:p>
            <a:pPr indent="0" marL="0">
              <a:buNone/>
            </a:pPr>
            <a:r>
              <a:rPr lang="en-US" sz="1400" dirty="0">
                <a:solidFill>
                  <a:schemeClr val="tx2"/>
                </a:solidFill>
              </a:rPr>
              <a:t>Alert text and tool output never count as instructions; secrets are redacted.</a:t>
            </a:r>
            <a:endParaRPr lang="en-US" sz="1400" dirty="0"/>
          </a:p>
        </p:txBody>
      </p:sp>
      <p:sp>
        <p:nvSpPr>
          <p:cNvPr id="11" name="guard 3 circle"/>
          <p:cNvSpPr/>
          <p:nvPr/>
        </p:nvSpPr>
        <p:spPr>
          <a:xfrm>
            <a:off x="548640" y="2880360"/>
            <a:ext cx="640080" cy="640080"/>
          </a:xfrm>
          <a:prstGeom prst="ellipse">
            <a:avLst/>
          </a:prstGeom>
          <a:solidFill>
            <a:schemeClr val="tx1"/>
          </a:solidFill>
          <a:ln/>
        </p:spPr>
      </p:sp>
      <p:pic>
        <p:nvPicPr>
          <p:cNvPr id="12" name="guard 3 icon" descr="preencoded.png">    </p:cNvPr>
          <p:cNvPicPr>
            <a:picLocks noChangeAspect="1"/>
          </p:cNvPicPr>
          <p:nvPr/>
        </p:nvPicPr>
        <p:blipFill>
          <a:blip r:embed="rId3"/>
          <a:stretch>
            <a:fillRect/>
          </a:stretch>
        </p:blipFill>
        <p:spPr>
          <a:xfrm>
            <a:off x="708660" y="3040380"/>
            <a:ext cx="320040" cy="320040"/>
          </a:xfrm>
          <a:prstGeom prst="rect">
            <a:avLst/>
          </a:prstGeom>
        </p:spPr>
      </p:pic>
      <p:sp>
        <p:nvSpPr>
          <p:cNvPr id="13" name="Text 8"/>
          <p:cNvSpPr txBox="1"/>
          <p:nvPr/>
        </p:nvSpPr>
        <p:spPr>
          <a:xfrm>
            <a:off x="1417320" y="2834640"/>
            <a:ext cx="4572000" cy="365760"/>
          </a:xfrm>
          <a:prstGeom prst="rect">
            <a:avLst/>
          </a:prstGeom>
          <a:noFill/>
          <a:ln/>
        </p:spPr>
        <p:txBody>
          <a:bodyPr wrap="square" lIns="0" tIns="0" rIns="0" bIns="0" rtlCol="0" anchor="t"/>
          <a:lstStyle/>
          <a:p>
            <a:pPr indent="0" marL="0">
              <a:buNone/>
            </a:pPr>
            <a:r>
              <a:rPr lang="en-US" sz="1800" b="1" dirty="0">
                <a:solidFill>
                  <a:schemeClr val="tx1"/>
                </a:solidFill>
              </a:rPr>
              <a:t>Pre-approved actions only</a:t>
            </a:r>
            <a:endParaRPr lang="en-US" sz="1800" dirty="0"/>
          </a:p>
        </p:txBody>
      </p:sp>
      <p:sp>
        <p:nvSpPr>
          <p:cNvPr id="14" name="Text 9"/>
          <p:cNvSpPr txBox="1"/>
          <p:nvPr/>
        </p:nvSpPr>
        <p:spPr>
          <a:xfrm>
            <a:off x="1417320" y="3218688"/>
            <a:ext cx="4572000" cy="731520"/>
          </a:xfrm>
          <a:prstGeom prst="rect">
            <a:avLst/>
          </a:prstGeom>
          <a:noFill/>
          <a:ln/>
        </p:spPr>
        <p:txBody>
          <a:bodyPr wrap="square" lIns="0" tIns="0" rIns="0" bIns="0" rtlCol="0" anchor="t"/>
          <a:lstStyle/>
          <a:p>
            <a:pPr indent="0" marL="0">
              <a:buNone/>
            </a:pPr>
            <a:r>
              <a:rPr lang="en-US" sz="1400" dirty="0">
                <a:solidFill>
                  <a:schemeClr val="tx2"/>
                </a:solidFill>
              </a:rPr>
              <a:t>A fix is an action id from the team's catalog, never model-written code.</a:t>
            </a:r>
            <a:endParaRPr lang="en-US" sz="1400" dirty="0"/>
          </a:p>
        </p:txBody>
      </p:sp>
      <p:sp>
        <p:nvSpPr>
          <p:cNvPr id="15" name="guard 4 circle"/>
          <p:cNvSpPr/>
          <p:nvPr/>
        </p:nvSpPr>
        <p:spPr>
          <a:xfrm>
            <a:off x="6172200" y="2880360"/>
            <a:ext cx="640080" cy="640080"/>
          </a:xfrm>
          <a:prstGeom prst="ellipse">
            <a:avLst/>
          </a:prstGeom>
          <a:solidFill>
            <a:schemeClr val="tx1"/>
          </a:solidFill>
          <a:ln/>
        </p:spPr>
      </p:sp>
      <p:pic>
        <p:nvPicPr>
          <p:cNvPr id="16" name="guard 4 icon" descr="preencoded.png">    </p:cNvPr>
          <p:cNvPicPr>
            <a:picLocks noChangeAspect="1"/>
          </p:cNvPicPr>
          <p:nvPr/>
        </p:nvPicPr>
        <p:blipFill>
          <a:blip r:embed="rId4"/>
          <a:stretch>
            <a:fillRect/>
          </a:stretch>
        </p:blipFill>
        <p:spPr>
          <a:xfrm>
            <a:off x="6332220" y="3040380"/>
            <a:ext cx="320040" cy="320040"/>
          </a:xfrm>
          <a:prstGeom prst="rect">
            <a:avLst/>
          </a:prstGeom>
        </p:spPr>
      </p:pic>
      <p:sp>
        <p:nvSpPr>
          <p:cNvPr id="17" name="Text 11"/>
          <p:cNvSpPr txBox="1"/>
          <p:nvPr/>
        </p:nvSpPr>
        <p:spPr>
          <a:xfrm>
            <a:off x="7040880" y="2834640"/>
            <a:ext cx="4572000" cy="365760"/>
          </a:xfrm>
          <a:prstGeom prst="rect">
            <a:avLst/>
          </a:prstGeom>
          <a:noFill/>
          <a:ln/>
        </p:spPr>
        <p:txBody>
          <a:bodyPr wrap="square" lIns="0" tIns="0" rIns="0" bIns="0" rtlCol="0" anchor="t"/>
          <a:lstStyle/>
          <a:p>
            <a:pPr indent="0" marL="0">
              <a:buNone/>
            </a:pPr>
            <a:r>
              <a:rPr lang="en-US" sz="1800" b="1" dirty="0">
                <a:solidFill>
                  <a:schemeClr val="tx1"/>
                </a:solidFill>
              </a:rPr>
              <a:t>Human approval</a:t>
            </a:r>
            <a:endParaRPr lang="en-US" sz="1800" dirty="0"/>
          </a:p>
        </p:txBody>
      </p:sp>
      <p:sp>
        <p:nvSpPr>
          <p:cNvPr id="18" name="Text 12"/>
          <p:cNvSpPr txBox="1"/>
          <p:nvPr/>
        </p:nvSpPr>
        <p:spPr>
          <a:xfrm>
            <a:off x="7040880" y="3218688"/>
            <a:ext cx="4572000" cy="731520"/>
          </a:xfrm>
          <a:prstGeom prst="rect">
            <a:avLst/>
          </a:prstGeom>
          <a:noFill/>
          <a:ln/>
        </p:spPr>
        <p:txBody>
          <a:bodyPr wrap="square" lIns="0" tIns="0" rIns="0" bIns="0" rtlCol="0" anchor="t"/>
          <a:lstStyle/>
          <a:p>
            <a:pPr indent="0" marL="0">
              <a:buNone/>
            </a:pPr>
            <a:r>
              <a:rPr lang="en-US" sz="1400" dirty="0">
                <a:solidFill>
                  <a:schemeClr val="tx2"/>
                </a:solidFill>
              </a:rPr>
              <a:t>Named approvers, signed Slack requests, one click runs a fix once.</a:t>
            </a:r>
            <a:endParaRPr lang="en-US" sz="1400" dirty="0"/>
          </a:p>
        </p:txBody>
      </p:sp>
      <p:sp>
        <p:nvSpPr>
          <p:cNvPr id="19" name="guard 5 circle"/>
          <p:cNvSpPr/>
          <p:nvPr/>
        </p:nvSpPr>
        <p:spPr>
          <a:xfrm>
            <a:off x="548640" y="4251960"/>
            <a:ext cx="640080" cy="640080"/>
          </a:xfrm>
          <a:prstGeom prst="ellipse">
            <a:avLst/>
          </a:prstGeom>
          <a:solidFill>
            <a:schemeClr val="tx1"/>
          </a:solidFill>
          <a:ln/>
        </p:spPr>
      </p:sp>
      <p:pic>
        <p:nvPicPr>
          <p:cNvPr id="20" name="guard 5 icon" descr="preencoded.png">    </p:cNvPr>
          <p:cNvPicPr>
            <a:picLocks noChangeAspect="1"/>
          </p:cNvPicPr>
          <p:nvPr/>
        </p:nvPicPr>
        <p:blipFill>
          <a:blip r:embed="rId5"/>
          <a:stretch>
            <a:fillRect/>
          </a:stretch>
        </p:blipFill>
        <p:spPr>
          <a:xfrm>
            <a:off x="708660" y="4411980"/>
            <a:ext cx="320040" cy="320040"/>
          </a:xfrm>
          <a:prstGeom prst="rect">
            <a:avLst/>
          </a:prstGeom>
        </p:spPr>
      </p:pic>
      <p:sp>
        <p:nvSpPr>
          <p:cNvPr id="21" name="Text 14"/>
          <p:cNvSpPr txBox="1"/>
          <p:nvPr/>
        </p:nvSpPr>
        <p:spPr>
          <a:xfrm>
            <a:off x="1417320" y="4206240"/>
            <a:ext cx="4572000" cy="365760"/>
          </a:xfrm>
          <a:prstGeom prst="rect">
            <a:avLst/>
          </a:prstGeom>
          <a:noFill/>
          <a:ln/>
        </p:spPr>
        <p:txBody>
          <a:bodyPr wrap="square" lIns="0" tIns="0" rIns="0" bIns="0" rtlCol="0" anchor="t"/>
          <a:lstStyle/>
          <a:p>
            <a:pPr indent="0" marL="0">
              <a:buNone/>
            </a:pPr>
            <a:r>
              <a:rPr lang="en-US" sz="1800" b="1" dirty="0">
                <a:solidFill>
                  <a:schemeClr val="tx1"/>
                </a:solidFill>
              </a:rPr>
              <a:t>Least-privilege users</a:t>
            </a:r>
            <a:endParaRPr lang="en-US" sz="1800" dirty="0"/>
          </a:p>
        </p:txBody>
      </p:sp>
      <p:sp>
        <p:nvSpPr>
          <p:cNvPr id="22" name="Text 15"/>
          <p:cNvSpPr txBox="1"/>
          <p:nvPr/>
        </p:nvSpPr>
        <p:spPr>
          <a:xfrm>
            <a:off x="1417320" y="4590288"/>
            <a:ext cx="4572000" cy="731520"/>
          </a:xfrm>
          <a:prstGeom prst="rect">
            <a:avLst/>
          </a:prstGeom>
          <a:noFill/>
          <a:ln/>
        </p:spPr>
        <p:txBody>
          <a:bodyPr wrap="square" lIns="0" tIns="0" rIns="0" bIns="0" rtlCol="0" anchor="t"/>
          <a:lstStyle/>
          <a:p>
            <a:pPr indent="0" marL="0">
              <a:buNone/>
            </a:pPr>
            <a:r>
              <a:rPr lang="en-US" sz="1400" dirty="0">
                <a:solidFill>
                  <a:schemeClr val="tx2"/>
                </a:solidFill>
              </a:rPr>
              <a:t>The runtime user cannot rewrite the audit log or touch business tables.</a:t>
            </a:r>
            <a:endParaRPr lang="en-US" sz="1400" dirty="0"/>
          </a:p>
        </p:txBody>
      </p:sp>
      <p:sp>
        <p:nvSpPr>
          <p:cNvPr id="23" name="guard 6 circle"/>
          <p:cNvSpPr/>
          <p:nvPr/>
        </p:nvSpPr>
        <p:spPr>
          <a:xfrm>
            <a:off x="6172200" y="4251960"/>
            <a:ext cx="640080" cy="640080"/>
          </a:xfrm>
          <a:prstGeom prst="ellipse">
            <a:avLst/>
          </a:prstGeom>
          <a:solidFill>
            <a:schemeClr val="tx1"/>
          </a:solidFill>
          <a:ln/>
        </p:spPr>
      </p:sp>
      <p:pic>
        <p:nvPicPr>
          <p:cNvPr id="24" name="guard 6 icon" descr="preencoded.png">    </p:cNvPr>
          <p:cNvPicPr>
            <a:picLocks noChangeAspect="1"/>
          </p:cNvPicPr>
          <p:nvPr/>
        </p:nvPicPr>
        <p:blipFill>
          <a:blip r:embed="rId6"/>
          <a:stretch>
            <a:fillRect/>
          </a:stretch>
        </p:blipFill>
        <p:spPr>
          <a:xfrm>
            <a:off x="6332220" y="4411980"/>
            <a:ext cx="320040" cy="320040"/>
          </a:xfrm>
          <a:prstGeom prst="rect">
            <a:avLst/>
          </a:prstGeom>
        </p:spPr>
      </p:pic>
      <p:sp>
        <p:nvSpPr>
          <p:cNvPr id="25" name="Text 17"/>
          <p:cNvSpPr txBox="1"/>
          <p:nvPr/>
        </p:nvSpPr>
        <p:spPr>
          <a:xfrm>
            <a:off x="7040880" y="4206240"/>
            <a:ext cx="4572000" cy="365760"/>
          </a:xfrm>
          <a:prstGeom prst="rect">
            <a:avLst/>
          </a:prstGeom>
          <a:noFill/>
          <a:ln/>
        </p:spPr>
        <p:txBody>
          <a:bodyPr wrap="square" lIns="0" tIns="0" rIns="0" bIns="0" rtlCol="0" anchor="t"/>
          <a:lstStyle/>
          <a:p>
            <a:pPr indent="0" marL="0">
              <a:buNone/>
            </a:pPr>
            <a:r>
              <a:rPr lang="en-US" sz="1800" b="1" dirty="0">
                <a:solidFill>
                  <a:schemeClr val="tx1"/>
                </a:solidFill>
              </a:rPr>
              <a:t>Everything audited</a:t>
            </a:r>
            <a:endParaRPr lang="en-US" sz="1800" dirty="0"/>
          </a:p>
        </p:txBody>
      </p:sp>
      <p:sp>
        <p:nvSpPr>
          <p:cNvPr id="26" name="Text 18"/>
          <p:cNvSpPr txBox="1"/>
          <p:nvPr/>
        </p:nvSpPr>
        <p:spPr>
          <a:xfrm>
            <a:off x="7040880" y="4590288"/>
            <a:ext cx="4572000" cy="731520"/>
          </a:xfrm>
          <a:prstGeom prst="rect">
            <a:avLst/>
          </a:prstGeom>
          <a:noFill/>
          <a:ln/>
        </p:spPr>
        <p:txBody>
          <a:bodyPr wrap="square" lIns="0" tIns="0" rIns="0" bIns="0" rtlCol="0" anchor="t"/>
          <a:lstStyle/>
          <a:p>
            <a:pPr indent="0" marL="0">
              <a:buNone/>
            </a:pPr>
            <a:r>
              <a:rPr lang="en-US" sz="1400" dirty="0">
                <a:solidFill>
                  <a:schemeClr val="tx2"/>
                </a:solidFill>
              </a:rPr>
              <a:t>Incidents, model calls, tool calls, notifications and decisions.</a:t>
            </a:r>
            <a:endParaRPr lang="en-US" sz="1400" dirty="0"/>
          </a:p>
        </p:txBody>
      </p:sp>
      <p:sp>
        <p:nvSpPr>
          <p:cNvPr id="27" name="fail closed banner"/>
          <p:cNvSpPr/>
          <p:nvPr/>
        </p:nvSpPr>
        <p:spPr>
          <a:xfrm>
            <a:off x="548640" y="5623560"/>
            <a:ext cx="11064240" cy="548640"/>
          </a:xfrm>
          <a:prstGeom prst="roundRect">
            <a:avLst>
              <a:gd name="adj" fmla="val 20000"/>
            </a:avLst>
          </a:prstGeom>
          <a:solidFill>
            <a:schemeClr val="tx1"/>
          </a:solidFill>
          <a:ln/>
        </p:spPr>
      </p:sp>
      <p:sp>
        <p:nvSpPr>
          <p:cNvPr id="28" name="Text 20"/>
          <p:cNvSpPr txBox="1"/>
          <p:nvPr/>
        </p:nvSpPr>
        <p:spPr>
          <a:xfrm>
            <a:off x="822960" y="5623560"/>
            <a:ext cx="10515600" cy="548640"/>
          </a:xfrm>
          <a:prstGeom prst="rect">
            <a:avLst/>
          </a:prstGeom>
          <a:noFill/>
          <a:ln/>
        </p:spPr>
        <p:txBody>
          <a:bodyPr wrap="square" lIns="0" tIns="0" rIns="0" bIns="0" rtlCol="0" anchor="ctr"/>
          <a:lstStyle/>
          <a:p>
            <a:pPr indent="0" marL="0">
              <a:buNone/>
            </a:pPr>
            <a:r>
              <a:rPr lang="en-US" sz="1600" b="1" dirty="0">
                <a:solidFill>
                  <a:schemeClr val="accent1"/>
                </a:solidFill>
              </a:rPr>
              <a:t>Every control fails closed: a missing key, token, approver or credential refuses the request.</a:t>
            </a:r>
            <a:endParaRPr lang="en-US" sz="16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From zero to an AI SRE in four commands</a:t>
            </a:r>
            <a:endParaRPr lang="en-US" sz="3200" dirty="0"/>
          </a:p>
        </p:txBody>
      </p:sp>
      <p:sp>
        <p:nvSpPr>
          <p:cNvPr id="3" name="onboard 1 circle"/>
          <p:cNvSpPr/>
          <p:nvPr/>
        </p:nvSpPr>
        <p:spPr>
          <a:xfrm>
            <a:off x="548640" y="1508760"/>
            <a:ext cx="548640" cy="548640"/>
          </a:xfrm>
          <a:prstGeom prst="ellipse">
            <a:avLst/>
          </a:prstGeom>
          <a:solidFill>
            <a:schemeClr val="accent1"/>
          </a:solidFill>
          <a:ln/>
        </p:spPr>
      </p:sp>
      <p:sp>
        <p:nvSpPr>
          <p:cNvPr id="4" name="Text 2"/>
          <p:cNvSpPr txBox="1"/>
          <p:nvPr/>
        </p:nvSpPr>
        <p:spPr>
          <a:xfrm>
            <a:off x="548640" y="150876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rPr>
              <a:t>1</a:t>
            </a:r>
            <a:endParaRPr lang="en-US" sz="2000" dirty="0"/>
          </a:p>
        </p:txBody>
      </p:sp>
      <p:sp>
        <p:nvSpPr>
          <p:cNvPr id="5" name="Text 3"/>
          <p:cNvSpPr txBox="1"/>
          <p:nvPr/>
        </p:nvSpPr>
        <p:spPr>
          <a:xfrm>
            <a:off x="1325880" y="1463040"/>
            <a:ext cx="4754880" cy="320040"/>
          </a:xfrm>
          <a:prstGeom prst="rect">
            <a:avLst/>
          </a:prstGeom>
          <a:noFill/>
          <a:ln/>
        </p:spPr>
        <p:txBody>
          <a:bodyPr wrap="square" lIns="0" tIns="0" rIns="0" bIns="0" rtlCol="0" anchor="t"/>
          <a:lstStyle/>
          <a:p>
            <a:pPr indent="0" marL="0">
              <a:buNone/>
            </a:pPr>
            <a:r>
              <a:rPr lang="en-US" sz="1700" b="1" dirty="0">
                <a:solidFill>
                  <a:schemeClr val="tx1"/>
                </a:solidFill>
              </a:rPr>
              <a:t>Bootstrap Exasol once</a:t>
            </a:r>
            <a:endParaRPr lang="en-US" sz="1700" dirty="0"/>
          </a:p>
        </p:txBody>
      </p:sp>
      <p:sp>
        <p:nvSpPr>
          <p:cNvPr id="6" name="Text 4"/>
          <p:cNvSpPr txBox="1"/>
          <p:nvPr/>
        </p:nvSpPr>
        <p:spPr>
          <a:xfrm>
            <a:off x="1325880" y="1810512"/>
            <a:ext cx="4754880" cy="274320"/>
          </a:xfrm>
          <a:prstGeom prst="rect">
            <a:avLst/>
          </a:prstGeom>
          <a:noFill/>
          <a:ln/>
        </p:spPr>
        <p:txBody>
          <a:bodyPr wrap="square" lIns="0" tIns="0" rIns="0" bIns="0" rtlCol="0" anchor="t"/>
          <a:lstStyle/>
          <a:p>
            <a:pPr indent="0" marL="0">
              <a:buNone/>
            </a:pPr>
            <a:r>
              <a:rPr lang="en-US" sz="1300" dirty="0">
                <a:solidFill>
                  <a:schemeClr val="accent4"/>
                </a:solidFill>
                <a:latin typeface="Courier New" pitchFamily="34" charset="0"/>
                <a:ea typeface="Courier New" pitchFamily="34" charset="-122"/>
                <a:cs typeface="Courier New" pitchFamily="34" charset="-120"/>
              </a:rPr>
              <a:t>bootstrap_sentinel_roles.py --env-file .env</a:t>
            </a:r>
            <a:endParaRPr lang="en-US" sz="1300" dirty="0"/>
          </a:p>
        </p:txBody>
      </p:sp>
      <p:sp>
        <p:nvSpPr>
          <p:cNvPr id="7" name="Text 5"/>
          <p:cNvSpPr txBox="1"/>
          <p:nvPr/>
        </p:nvSpPr>
        <p:spPr>
          <a:xfrm>
            <a:off x="1325880" y="2103120"/>
            <a:ext cx="4754880" cy="320040"/>
          </a:xfrm>
          <a:prstGeom prst="rect">
            <a:avLst/>
          </a:prstGeom>
          <a:noFill/>
          <a:ln/>
        </p:spPr>
        <p:txBody>
          <a:bodyPr wrap="square" lIns="0" tIns="0" rIns="0" bIns="0" rtlCol="0" anchor="t"/>
          <a:lstStyle/>
          <a:p>
            <a:pPr indent="0" marL="0">
              <a:buNone/>
            </a:pPr>
            <a:r>
              <a:rPr lang="en-US" sz="1300" dirty="0">
                <a:solidFill>
                  <a:schemeClr val="tx2"/>
                </a:solidFill>
              </a:rPr>
              <a:t>Schema and users; passwords go straight into .env</a:t>
            </a:r>
            <a:endParaRPr lang="en-US" sz="1300" dirty="0"/>
          </a:p>
        </p:txBody>
      </p:sp>
      <p:sp>
        <p:nvSpPr>
          <p:cNvPr id="8" name="onboard 2 circle"/>
          <p:cNvSpPr/>
          <p:nvPr/>
        </p:nvSpPr>
        <p:spPr>
          <a:xfrm>
            <a:off x="548640" y="2651760"/>
            <a:ext cx="548640" cy="548640"/>
          </a:xfrm>
          <a:prstGeom prst="ellipse">
            <a:avLst/>
          </a:prstGeom>
          <a:solidFill>
            <a:schemeClr val="accent1"/>
          </a:solidFill>
          <a:ln/>
        </p:spPr>
      </p:sp>
      <p:sp>
        <p:nvSpPr>
          <p:cNvPr id="9" name="Text 7"/>
          <p:cNvSpPr txBox="1"/>
          <p:nvPr/>
        </p:nvSpPr>
        <p:spPr>
          <a:xfrm>
            <a:off x="548640" y="265176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rPr>
              <a:t>2</a:t>
            </a:r>
            <a:endParaRPr lang="en-US" sz="2000" dirty="0"/>
          </a:p>
        </p:txBody>
      </p:sp>
      <p:sp>
        <p:nvSpPr>
          <p:cNvPr id="10" name="Text 8"/>
          <p:cNvSpPr txBox="1"/>
          <p:nvPr/>
        </p:nvSpPr>
        <p:spPr>
          <a:xfrm>
            <a:off x="1325880" y="2606040"/>
            <a:ext cx="4754880" cy="320040"/>
          </a:xfrm>
          <a:prstGeom prst="rect">
            <a:avLst/>
          </a:prstGeom>
          <a:noFill/>
          <a:ln/>
        </p:spPr>
        <p:txBody>
          <a:bodyPr wrap="square" lIns="0" tIns="0" rIns="0" bIns="0" rtlCol="0" anchor="t"/>
          <a:lstStyle/>
          <a:p>
            <a:pPr indent="0" marL="0">
              <a:buNone/>
            </a:pPr>
            <a:r>
              <a:rPr lang="en-US" sz="1700" b="1" dirty="0">
                <a:solidFill>
                  <a:schemeClr val="tx1"/>
                </a:solidFill>
              </a:rPr>
              <a:t>Describe the team</a:t>
            </a:r>
            <a:endParaRPr lang="en-US" sz="1700" dirty="0"/>
          </a:p>
        </p:txBody>
      </p:sp>
      <p:sp>
        <p:nvSpPr>
          <p:cNvPr id="11" name="Text 9"/>
          <p:cNvSpPr txBox="1"/>
          <p:nvPr/>
        </p:nvSpPr>
        <p:spPr>
          <a:xfrm>
            <a:off x="1325880" y="2953512"/>
            <a:ext cx="4754880" cy="274320"/>
          </a:xfrm>
          <a:prstGeom prst="rect">
            <a:avLst/>
          </a:prstGeom>
          <a:noFill/>
          <a:ln/>
        </p:spPr>
        <p:txBody>
          <a:bodyPr wrap="square" lIns="0" tIns="0" rIns="0" bIns="0" rtlCol="0" anchor="t"/>
          <a:lstStyle/>
          <a:p>
            <a:pPr indent="0" marL="0">
              <a:buNone/>
            </a:pPr>
            <a:r>
              <a:rPr lang="en-US" sz="1300" dirty="0">
                <a:solidFill>
                  <a:schemeClr val="accent4"/>
                </a:solidFill>
                <a:latin typeface="Courier New" pitchFamily="34" charset="0"/>
                <a:ea typeface="Courier New" pitchFamily="34" charset="-122"/>
                <a:cs typeface="Courier New" pitchFamily="34" charset="-120"/>
              </a:rPr>
              <a:t>cp examples/sentinel.yaml .</a:t>
            </a:r>
            <a:endParaRPr lang="en-US" sz="1300" dirty="0"/>
          </a:p>
        </p:txBody>
      </p:sp>
      <p:sp>
        <p:nvSpPr>
          <p:cNvPr id="12" name="Text 10"/>
          <p:cNvSpPr txBox="1"/>
          <p:nvPr/>
        </p:nvSpPr>
        <p:spPr>
          <a:xfrm>
            <a:off x="1325880" y="3246120"/>
            <a:ext cx="4754880" cy="320040"/>
          </a:xfrm>
          <a:prstGeom prst="rect">
            <a:avLst/>
          </a:prstGeom>
          <a:noFill/>
          <a:ln/>
        </p:spPr>
        <p:txBody>
          <a:bodyPr wrap="square" lIns="0" tIns="0" rIns="0" bIns="0" rtlCol="0" anchor="t"/>
          <a:lstStyle/>
          <a:p>
            <a:pPr indent="0" marL="0">
              <a:buNone/>
            </a:pPr>
            <a:r>
              <a:rPr lang="en-US" sz="1300" dirty="0">
                <a:solidFill>
                  <a:schemeClr val="tx2"/>
                </a:solidFill>
              </a:rPr>
              <a:t>Sources, channels, routes, models</a:t>
            </a:r>
            <a:endParaRPr lang="en-US" sz="1300" dirty="0"/>
          </a:p>
        </p:txBody>
      </p:sp>
      <p:sp>
        <p:nvSpPr>
          <p:cNvPr id="13" name="onboard 3 circle"/>
          <p:cNvSpPr/>
          <p:nvPr/>
        </p:nvSpPr>
        <p:spPr>
          <a:xfrm>
            <a:off x="548640" y="3794760"/>
            <a:ext cx="548640" cy="548640"/>
          </a:xfrm>
          <a:prstGeom prst="ellipse">
            <a:avLst/>
          </a:prstGeom>
          <a:solidFill>
            <a:schemeClr val="accent1"/>
          </a:solidFill>
          <a:ln/>
        </p:spPr>
      </p:sp>
      <p:sp>
        <p:nvSpPr>
          <p:cNvPr id="14" name="Text 12"/>
          <p:cNvSpPr txBox="1"/>
          <p:nvPr/>
        </p:nvSpPr>
        <p:spPr>
          <a:xfrm>
            <a:off x="548640" y="379476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rPr>
              <a:t>3</a:t>
            </a:r>
            <a:endParaRPr lang="en-US" sz="2000" dirty="0"/>
          </a:p>
        </p:txBody>
      </p:sp>
      <p:sp>
        <p:nvSpPr>
          <p:cNvPr id="15" name="Text 13"/>
          <p:cNvSpPr txBox="1"/>
          <p:nvPr/>
        </p:nvSpPr>
        <p:spPr>
          <a:xfrm>
            <a:off x="1325880" y="3749040"/>
            <a:ext cx="4754880" cy="320040"/>
          </a:xfrm>
          <a:prstGeom prst="rect">
            <a:avLst/>
          </a:prstGeom>
          <a:noFill/>
          <a:ln/>
        </p:spPr>
        <p:txBody>
          <a:bodyPr wrap="square" lIns="0" tIns="0" rIns="0" bIns="0" rtlCol="0" anchor="t"/>
          <a:lstStyle/>
          <a:p>
            <a:pPr indent="0" marL="0">
              <a:buNone/>
            </a:pPr>
            <a:r>
              <a:rPr lang="en-US" sz="1700" b="1" dirty="0">
                <a:solidFill>
                  <a:schemeClr val="tx1"/>
                </a:solidFill>
              </a:rPr>
              <a:t>Check it offline</a:t>
            </a:r>
            <a:endParaRPr lang="en-US" sz="1700" dirty="0"/>
          </a:p>
        </p:txBody>
      </p:sp>
      <p:sp>
        <p:nvSpPr>
          <p:cNvPr id="16" name="Text 14"/>
          <p:cNvSpPr txBox="1"/>
          <p:nvPr/>
        </p:nvSpPr>
        <p:spPr>
          <a:xfrm>
            <a:off x="1325880" y="4096512"/>
            <a:ext cx="4754880" cy="274320"/>
          </a:xfrm>
          <a:prstGeom prst="rect">
            <a:avLst/>
          </a:prstGeom>
          <a:noFill/>
          <a:ln/>
        </p:spPr>
        <p:txBody>
          <a:bodyPr wrap="square" lIns="0" tIns="0" rIns="0" bIns="0" rtlCol="0" anchor="t"/>
          <a:lstStyle/>
          <a:p>
            <a:pPr indent="0" marL="0">
              <a:buNone/>
            </a:pPr>
            <a:r>
              <a:rPr lang="en-US" sz="1300" dirty="0">
                <a:solidFill>
                  <a:schemeClr val="accent4"/>
                </a:solidFill>
                <a:latin typeface="Courier New" pitchFamily="34" charset="0"/>
                <a:ea typeface="Courier New" pitchFamily="34" charset="-122"/>
                <a:cs typeface="Courier New" pitchFamily="34" charset="-120"/>
              </a:rPr>
              <a:t>sentinel-validate sentinel.yaml</a:t>
            </a:r>
            <a:endParaRPr lang="en-US" sz="1300" dirty="0"/>
          </a:p>
        </p:txBody>
      </p:sp>
      <p:sp>
        <p:nvSpPr>
          <p:cNvPr id="17" name="Text 15"/>
          <p:cNvSpPr txBox="1"/>
          <p:nvPr/>
        </p:nvSpPr>
        <p:spPr>
          <a:xfrm>
            <a:off x="1325880" y="4389120"/>
            <a:ext cx="4754880" cy="320040"/>
          </a:xfrm>
          <a:prstGeom prst="rect">
            <a:avLst/>
          </a:prstGeom>
          <a:noFill/>
          <a:ln/>
        </p:spPr>
        <p:txBody>
          <a:bodyPr wrap="square" lIns="0" tIns="0" rIns="0" bIns="0" rtlCol="0" anchor="t"/>
          <a:lstStyle/>
          <a:p>
            <a:pPr indent="0" marL="0">
              <a:buNone/>
            </a:pPr>
            <a:r>
              <a:rPr lang="en-US" sz="1300" dirty="0">
                <a:solidFill>
                  <a:schemeClr val="tx2"/>
                </a:solidFill>
              </a:rPr>
              <a:t>Prints ingest URLs and where incidents go</a:t>
            </a:r>
            <a:endParaRPr lang="en-US" sz="1300" dirty="0"/>
          </a:p>
        </p:txBody>
      </p:sp>
      <p:sp>
        <p:nvSpPr>
          <p:cNvPr id="18" name="onboard 4 circle"/>
          <p:cNvSpPr/>
          <p:nvPr/>
        </p:nvSpPr>
        <p:spPr>
          <a:xfrm>
            <a:off x="548640" y="4937760"/>
            <a:ext cx="548640" cy="548640"/>
          </a:xfrm>
          <a:prstGeom prst="ellipse">
            <a:avLst/>
          </a:prstGeom>
          <a:solidFill>
            <a:schemeClr val="accent1"/>
          </a:solidFill>
          <a:ln/>
        </p:spPr>
      </p:sp>
      <p:sp>
        <p:nvSpPr>
          <p:cNvPr id="19" name="Text 17"/>
          <p:cNvSpPr txBox="1"/>
          <p:nvPr/>
        </p:nvSpPr>
        <p:spPr>
          <a:xfrm>
            <a:off x="548640" y="493776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rPr>
              <a:t>4</a:t>
            </a:r>
            <a:endParaRPr lang="en-US" sz="2000" dirty="0"/>
          </a:p>
        </p:txBody>
      </p:sp>
      <p:sp>
        <p:nvSpPr>
          <p:cNvPr id="20" name="Text 18"/>
          <p:cNvSpPr txBox="1"/>
          <p:nvPr/>
        </p:nvSpPr>
        <p:spPr>
          <a:xfrm>
            <a:off x="1325880" y="4892040"/>
            <a:ext cx="4754880" cy="320040"/>
          </a:xfrm>
          <a:prstGeom prst="rect">
            <a:avLst/>
          </a:prstGeom>
          <a:noFill/>
          <a:ln/>
        </p:spPr>
        <p:txBody>
          <a:bodyPr wrap="square" lIns="0" tIns="0" rIns="0" bIns="0" rtlCol="0" anchor="t"/>
          <a:lstStyle/>
          <a:p>
            <a:pPr indent="0" marL="0">
              <a:buNone/>
            </a:pPr>
            <a:r>
              <a:rPr lang="en-US" sz="1700" b="1" dirty="0">
                <a:solidFill>
                  <a:schemeClr val="tx1"/>
                </a:solidFill>
              </a:rPr>
              <a:t>Start it</a:t>
            </a:r>
            <a:endParaRPr lang="en-US" sz="1700" dirty="0"/>
          </a:p>
        </p:txBody>
      </p:sp>
      <p:sp>
        <p:nvSpPr>
          <p:cNvPr id="21" name="Text 19"/>
          <p:cNvSpPr txBox="1"/>
          <p:nvPr/>
        </p:nvSpPr>
        <p:spPr>
          <a:xfrm>
            <a:off x="1325880" y="5239512"/>
            <a:ext cx="4754880" cy="274320"/>
          </a:xfrm>
          <a:prstGeom prst="rect">
            <a:avLst/>
          </a:prstGeom>
          <a:noFill/>
          <a:ln/>
        </p:spPr>
        <p:txBody>
          <a:bodyPr wrap="square" lIns="0" tIns="0" rIns="0" bIns="0" rtlCol="0" anchor="t"/>
          <a:lstStyle/>
          <a:p>
            <a:pPr indent="0" marL="0">
              <a:buNone/>
            </a:pPr>
            <a:r>
              <a:rPr lang="en-US" sz="1300" dirty="0">
                <a:solidFill>
                  <a:schemeClr val="accent4"/>
                </a:solidFill>
                <a:latin typeface="Courier New" pitchFamily="34" charset="0"/>
                <a:ea typeface="Courier New" pitchFamily="34" charset="-122"/>
                <a:cs typeface="Courier New" pitchFamily="34" charset="-120"/>
              </a:rPr>
              <a:t>docker compose up -d</a:t>
            </a:r>
            <a:endParaRPr lang="en-US" sz="1300" dirty="0"/>
          </a:p>
        </p:txBody>
      </p:sp>
      <p:sp>
        <p:nvSpPr>
          <p:cNvPr id="22" name="Text 20"/>
          <p:cNvSpPr txBox="1"/>
          <p:nvPr/>
        </p:nvSpPr>
        <p:spPr>
          <a:xfrm>
            <a:off x="1325880" y="5532120"/>
            <a:ext cx="4754880" cy="320040"/>
          </a:xfrm>
          <a:prstGeom prst="rect">
            <a:avLst/>
          </a:prstGeom>
          <a:noFill/>
          <a:ln/>
        </p:spPr>
        <p:txBody>
          <a:bodyPr wrap="square" lIns="0" tIns="0" rIns="0" bIns="0" rtlCol="0" anchor="t"/>
          <a:lstStyle/>
          <a:p>
            <a:pPr indent="0" marL="0">
              <a:buNone/>
            </a:pPr>
            <a:r>
              <a:rPr lang="en-US" sz="1300" dirty="0">
                <a:solidFill>
                  <a:schemeClr val="tx2"/>
                </a:solidFill>
              </a:rPr>
              <a:t>api migrates the schema; workers start</a:t>
            </a:r>
            <a:endParaRPr lang="en-US" sz="1300" dirty="0"/>
          </a:p>
        </p:txBody>
      </p:sp>
      <p:sp>
        <p:nvSpPr>
          <p:cNvPr id="23" name="spec card"/>
          <p:cNvSpPr/>
          <p:nvPr/>
        </p:nvSpPr>
        <p:spPr>
          <a:xfrm>
            <a:off x="6400800" y="1463040"/>
            <a:ext cx="5212080" cy="4526280"/>
          </a:xfrm>
          <a:prstGeom prst="roundRect">
            <a:avLst>
              <a:gd name="adj" fmla="val 2424"/>
            </a:avLst>
          </a:prstGeom>
          <a:solidFill>
            <a:schemeClr val="tx1"/>
          </a:solidFill>
          <a:ln/>
        </p:spPr>
      </p:sp>
      <p:sp>
        <p:nvSpPr>
          <p:cNvPr id="24" name="Text 22"/>
          <p:cNvSpPr txBox="1"/>
          <p:nvPr/>
        </p:nvSpPr>
        <p:spPr>
          <a:xfrm>
            <a:off x="6675120" y="1645920"/>
            <a:ext cx="4663440" cy="274320"/>
          </a:xfrm>
          <a:prstGeom prst="rect">
            <a:avLst/>
          </a:prstGeom>
          <a:noFill/>
          <a:ln/>
        </p:spPr>
        <p:txBody>
          <a:bodyPr wrap="square" lIns="0" tIns="0" rIns="0" bIns="0" rtlCol="0" anchor="t"/>
          <a:lstStyle/>
          <a:p>
            <a:pPr indent="0" marL="0">
              <a:buNone/>
            </a:pPr>
            <a:r>
              <a:rPr lang="en-US" sz="1200" b="1" dirty="0">
                <a:solidFill>
                  <a:schemeClr val="accent1"/>
                </a:solidFill>
              </a:rPr>
              <a:t>sentinel.yaml</a:t>
            </a:r>
            <a:endParaRPr lang="en-US" sz="1200" dirty="0"/>
          </a:p>
        </p:txBody>
      </p:sp>
      <p:sp>
        <p:nvSpPr>
          <p:cNvPr id="25" name="Text 23"/>
          <p:cNvSpPr txBox="1"/>
          <p:nvPr/>
        </p:nvSpPr>
        <p:spPr>
          <a:xfrm>
            <a:off x="6675120" y="2011680"/>
            <a:ext cx="4754880" cy="3840480"/>
          </a:xfrm>
          <a:prstGeom prst="rect">
            <a:avLst/>
          </a:prstGeom>
          <a:noFill/>
          <a:ln/>
        </p:spPr>
        <p:txBody>
          <a:bodyPr wrap="square" lIns="0" tIns="0" rIns="0" bIns="0" rtlCol="0" anchor="t"/>
          <a:lstStyle/>
          <a:p>
            <a:pPr indent="0" marL="0">
              <a:buNone/>
            </a:pPr>
            <a:r>
              <a:rPr lang="en-US" sz="1200" dirty="0">
                <a:solidFill>
                  <a:schemeClr val="bg2"/>
                </a:solidFill>
                <a:latin typeface="Courier New" pitchFamily="34" charset="0"/>
                <a:ea typeface="Courier New" pitchFamily="34" charset="-122"/>
                <a:cs typeface="Courier New" pitchFamily="34" charset="-120"/>
              </a:rPr>
              <a:t>workspace: data-platform</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sources:</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 { name: prometheus, type: alertmanager,</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token: "${env:AM_INGEST_TOKEN}" }</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channels:</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oncall: { type: slack, channel: "#data-oncall",</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interactive: true }</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routes:</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 match: { severity_at_least: high }</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notify: [oncall]</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models:</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smart: { provider: anthropic,</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model: claude-opus-5-5 }</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toolsets:</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exasol: { schemas: [SENTINEL] }</a:t>
            </a:r>
            <a:endParaRPr lang="en-US" sz="1200" dirty="0"/>
          </a:p>
        </p:txBody>
      </p:sp>
      <p:sp>
        <p:nvSpPr>
          <p:cNvPr id="26" name="Text 24"/>
          <p:cNvSpPr txBox="1"/>
          <p:nvPr/>
        </p:nvSpPr>
        <p:spPr>
          <a:xfrm>
            <a:off x="548640" y="5897880"/>
            <a:ext cx="5669280" cy="320040"/>
          </a:xfrm>
          <a:prstGeom prst="rect">
            <a:avLst/>
          </a:prstGeom>
          <a:noFill/>
          <a:ln/>
        </p:spPr>
        <p:txBody>
          <a:bodyPr wrap="square" lIns="0" tIns="0" rIns="0" bIns="0" rtlCol="0" anchor="t"/>
          <a:lstStyle/>
          <a:p>
            <a:pPr indent="0" marL="0">
              <a:buNone/>
            </a:pPr>
            <a:r>
              <a:rPr lang="en-US" sz="1300" i="1" dirty="0">
                <a:solidFill>
                  <a:schemeClr val="accent4"/>
                </a:solidFill>
              </a:rPr>
              <a:t>One file per team. Secrets are references, so specs can live in Git.</a:t>
            </a:r>
            <a:endParaRPr lang="en-US" sz="13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Demo: one failing pipeline, end to end</a:t>
            </a:r>
            <a:endParaRPr lang="en-US" sz="3200" dirty="0"/>
          </a:p>
        </p:txBody>
      </p:sp>
      <p:sp>
        <p:nvSpPr>
          <p:cNvPr id="3" name="timeline line"/>
          <p:cNvSpPr/>
          <p:nvPr/>
        </p:nvSpPr>
        <p:spPr>
          <a:xfrm>
            <a:off x="960120" y="1719072"/>
            <a:ext cx="0" cy="3794760"/>
          </a:xfrm>
          <a:prstGeom prst="line">
            <a:avLst/>
          </a:prstGeom>
          <a:noFill/>
          <a:ln w="25400">
            <a:solidFill>
              <a:schemeClr val="accent5"/>
            </a:solidFill>
            <a:prstDash val="solid"/>
          </a:ln>
        </p:spPr>
      </p:sp>
      <p:sp>
        <p:nvSpPr>
          <p:cNvPr id="4" name="demo 1 dot"/>
          <p:cNvSpPr/>
          <p:nvPr/>
        </p:nvSpPr>
        <p:spPr>
          <a:xfrm>
            <a:off x="777240" y="1536192"/>
            <a:ext cx="365760" cy="365760"/>
          </a:xfrm>
          <a:prstGeom prst="ellipse">
            <a:avLst/>
          </a:prstGeom>
          <a:solidFill>
            <a:schemeClr val="tx1"/>
          </a:solidFill>
          <a:ln w="25400">
            <a:solidFill>
              <a:schemeClr val="bg1"/>
            </a:solidFill>
            <a:prstDash val="solid"/>
          </a:ln>
        </p:spPr>
      </p:sp>
      <p:sp>
        <p:nvSpPr>
          <p:cNvPr id="5" name="Text 3"/>
          <p:cNvSpPr txBox="1"/>
          <p:nvPr/>
        </p:nvSpPr>
        <p:spPr>
          <a:xfrm>
            <a:off x="1371600" y="1517904"/>
            <a:ext cx="1920240" cy="411480"/>
          </a:xfrm>
          <a:prstGeom prst="rect">
            <a:avLst/>
          </a:prstGeom>
          <a:noFill/>
          <a:ln/>
        </p:spPr>
        <p:txBody>
          <a:bodyPr wrap="square" lIns="0" tIns="0" rIns="0" bIns="0" rtlCol="0" anchor="ctr"/>
          <a:lstStyle/>
          <a:p>
            <a:pPr indent="0" marL="0">
              <a:buNone/>
            </a:pPr>
            <a:r>
              <a:rPr lang="en-US" sz="1700" b="1" dirty="0">
                <a:solidFill>
                  <a:schemeClr val="tx1"/>
                </a:solidFill>
              </a:rPr>
              <a:t>Alert</a:t>
            </a:r>
            <a:endParaRPr lang="en-US" sz="1700" dirty="0"/>
          </a:p>
        </p:txBody>
      </p:sp>
      <p:sp>
        <p:nvSpPr>
          <p:cNvPr id="6" name="Text 4"/>
          <p:cNvSpPr txBox="1"/>
          <p:nvPr/>
        </p:nvSpPr>
        <p:spPr>
          <a:xfrm>
            <a:off x="3108960" y="1517904"/>
            <a:ext cx="8503920" cy="411480"/>
          </a:xfrm>
          <a:prstGeom prst="rect">
            <a:avLst/>
          </a:prstGeom>
          <a:noFill/>
          <a:ln/>
        </p:spPr>
        <p:txBody>
          <a:bodyPr wrap="square" lIns="0" tIns="0" rIns="0" bIns="0" rtlCol="0" anchor="ctr"/>
          <a:lstStyle/>
          <a:p>
            <a:pPr indent="0" marL="0">
              <a:buNone/>
            </a:pPr>
            <a:r>
              <a:rPr lang="en-US" sz="1500" dirty="0">
                <a:solidFill>
                  <a:schemeClr val="tx2"/>
                </a:solidFill>
              </a:rPr>
              <a:t>Alertmanager: pl_sales_clean_to_finance_bi failed 3 times in a row</a:t>
            </a:r>
            <a:endParaRPr lang="en-US" sz="1500" dirty="0"/>
          </a:p>
        </p:txBody>
      </p:sp>
      <p:sp>
        <p:nvSpPr>
          <p:cNvPr id="7" name="demo 2 dot"/>
          <p:cNvSpPr/>
          <p:nvPr/>
        </p:nvSpPr>
        <p:spPr>
          <a:xfrm>
            <a:off x="777240" y="2295144"/>
            <a:ext cx="365760" cy="365760"/>
          </a:xfrm>
          <a:prstGeom prst="ellipse">
            <a:avLst/>
          </a:prstGeom>
          <a:solidFill>
            <a:schemeClr val="tx1"/>
          </a:solidFill>
          <a:ln w="25400">
            <a:solidFill>
              <a:schemeClr val="bg1"/>
            </a:solidFill>
            <a:prstDash val="solid"/>
          </a:ln>
        </p:spPr>
      </p:sp>
      <p:sp>
        <p:nvSpPr>
          <p:cNvPr id="8" name="Text 6"/>
          <p:cNvSpPr txBox="1"/>
          <p:nvPr/>
        </p:nvSpPr>
        <p:spPr>
          <a:xfrm>
            <a:off x="1371600" y="2276856"/>
            <a:ext cx="1920240" cy="411480"/>
          </a:xfrm>
          <a:prstGeom prst="rect">
            <a:avLst/>
          </a:prstGeom>
          <a:noFill/>
          <a:ln/>
        </p:spPr>
        <p:txBody>
          <a:bodyPr wrap="square" lIns="0" tIns="0" rIns="0" bIns="0" rtlCol="0" anchor="ctr"/>
          <a:lstStyle/>
          <a:p>
            <a:pPr indent="0" marL="0">
              <a:buNone/>
            </a:pPr>
            <a:r>
              <a:rPr lang="en-US" sz="1700" b="1" dirty="0">
                <a:solidFill>
                  <a:schemeClr val="tx1"/>
                </a:solidFill>
              </a:rPr>
              <a:t>Incident</a:t>
            </a:r>
            <a:endParaRPr lang="en-US" sz="1700" dirty="0"/>
          </a:p>
        </p:txBody>
      </p:sp>
      <p:sp>
        <p:nvSpPr>
          <p:cNvPr id="9" name="Text 7"/>
          <p:cNvSpPr txBox="1"/>
          <p:nvPr/>
        </p:nvSpPr>
        <p:spPr>
          <a:xfrm>
            <a:off x="3108960" y="2276856"/>
            <a:ext cx="8503920" cy="411480"/>
          </a:xfrm>
          <a:prstGeom prst="rect">
            <a:avLst/>
          </a:prstGeom>
          <a:noFill/>
          <a:ln/>
        </p:spPr>
        <p:txBody>
          <a:bodyPr wrap="square" lIns="0" tIns="0" rIns="0" bIns="0" rtlCol="0" anchor="ctr"/>
          <a:lstStyle/>
          <a:p>
            <a:pPr indent="0" marL="0">
              <a:buNone/>
            </a:pPr>
            <a:r>
              <a:rPr lang="en-US" sz="1500" dirty="0">
                <a:solidFill>
                  <a:schemeClr val="tx2"/>
                </a:solidFill>
              </a:rPr>
              <a:t>One incident opens and is routed to the audit feed and to on-call in Slack</a:t>
            </a:r>
            <a:endParaRPr lang="en-US" sz="1500" dirty="0"/>
          </a:p>
        </p:txBody>
      </p:sp>
      <p:sp>
        <p:nvSpPr>
          <p:cNvPr id="10" name="demo 3 dot"/>
          <p:cNvSpPr/>
          <p:nvPr/>
        </p:nvSpPr>
        <p:spPr>
          <a:xfrm>
            <a:off x="777240" y="3054096"/>
            <a:ext cx="365760" cy="365760"/>
          </a:xfrm>
          <a:prstGeom prst="ellipse">
            <a:avLst/>
          </a:prstGeom>
          <a:solidFill>
            <a:schemeClr val="tx1"/>
          </a:solidFill>
          <a:ln w="25400">
            <a:solidFill>
              <a:schemeClr val="bg1"/>
            </a:solidFill>
            <a:prstDash val="solid"/>
          </a:ln>
        </p:spPr>
      </p:sp>
      <p:sp>
        <p:nvSpPr>
          <p:cNvPr id="11" name="Text 9"/>
          <p:cNvSpPr txBox="1"/>
          <p:nvPr/>
        </p:nvSpPr>
        <p:spPr>
          <a:xfrm>
            <a:off x="1371600" y="3035808"/>
            <a:ext cx="1920240" cy="411480"/>
          </a:xfrm>
          <a:prstGeom prst="rect">
            <a:avLst/>
          </a:prstGeom>
          <a:noFill/>
          <a:ln/>
        </p:spPr>
        <p:txBody>
          <a:bodyPr wrap="square" lIns="0" tIns="0" rIns="0" bIns="0" rtlCol="0" anchor="ctr"/>
          <a:lstStyle/>
          <a:p>
            <a:pPr indent="0" marL="0">
              <a:buNone/>
            </a:pPr>
            <a:r>
              <a:rPr lang="en-US" sz="1700" b="1" dirty="0">
                <a:solidFill>
                  <a:schemeClr val="tx1"/>
                </a:solidFill>
              </a:rPr>
              <a:t>Triage</a:t>
            </a:r>
            <a:endParaRPr lang="en-US" sz="1700" dirty="0"/>
          </a:p>
        </p:txBody>
      </p:sp>
      <p:sp>
        <p:nvSpPr>
          <p:cNvPr id="12" name="Text 10"/>
          <p:cNvSpPr txBox="1"/>
          <p:nvPr/>
        </p:nvSpPr>
        <p:spPr>
          <a:xfrm>
            <a:off x="3108960" y="3035808"/>
            <a:ext cx="8503920" cy="411480"/>
          </a:xfrm>
          <a:prstGeom prst="rect">
            <a:avLst/>
          </a:prstGeom>
          <a:noFill/>
          <a:ln/>
        </p:spPr>
        <p:txBody>
          <a:bodyPr wrap="square" lIns="0" tIns="0" rIns="0" bIns="0" rtlCol="0" anchor="ctr"/>
          <a:lstStyle/>
          <a:p>
            <a:pPr indent="0" marL="0">
              <a:buNone/>
            </a:pPr>
            <a:r>
              <a:rPr lang="en-US" sz="1500" dirty="0">
                <a:solidFill>
                  <a:schemeClr val="tx2"/>
                </a:solidFill>
              </a:rPr>
              <a:t>Impact in business terms: the Finance Executive BI dashboard is going stale</a:t>
            </a:r>
            <a:endParaRPr lang="en-US" sz="1500" dirty="0"/>
          </a:p>
        </p:txBody>
      </p:sp>
      <p:sp>
        <p:nvSpPr>
          <p:cNvPr id="13" name="demo 4 dot"/>
          <p:cNvSpPr/>
          <p:nvPr/>
        </p:nvSpPr>
        <p:spPr>
          <a:xfrm>
            <a:off x="777240" y="3813048"/>
            <a:ext cx="365760" cy="365760"/>
          </a:xfrm>
          <a:prstGeom prst="ellipse">
            <a:avLst/>
          </a:prstGeom>
          <a:solidFill>
            <a:schemeClr val="accent1"/>
          </a:solidFill>
          <a:ln w="25400">
            <a:solidFill>
              <a:schemeClr val="bg1"/>
            </a:solidFill>
            <a:prstDash val="solid"/>
          </a:ln>
        </p:spPr>
      </p:sp>
      <p:sp>
        <p:nvSpPr>
          <p:cNvPr id="14" name="Text 12"/>
          <p:cNvSpPr txBox="1"/>
          <p:nvPr/>
        </p:nvSpPr>
        <p:spPr>
          <a:xfrm>
            <a:off x="1371600" y="3794760"/>
            <a:ext cx="1920240" cy="411480"/>
          </a:xfrm>
          <a:prstGeom prst="rect">
            <a:avLst/>
          </a:prstGeom>
          <a:noFill/>
          <a:ln/>
        </p:spPr>
        <p:txBody>
          <a:bodyPr wrap="square" lIns="0" tIns="0" rIns="0" bIns="0" rtlCol="0" anchor="ctr"/>
          <a:lstStyle/>
          <a:p>
            <a:pPr indent="0" marL="0">
              <a:buNone/>
            </a:pPr>
            <a:r>
              <a:rPr lang="en-US" sz="1700" b="1" dirty="0">
                <a:solidFill>
                  <a:schemeClr val="tx1"/>
                </a:solidFill>
              </a:rPr>
              <a:t>Investigation</a:t>
            </a:r>
            <a:endParaRPr lang="en-US" sz="1700" dirty="0"/>
          </a:p>
        </p:txBody>
      </p:sp>
      <p:sp>
        <p:nvSpPr>
          <p:cNvPr id="15" name="Text 13"/>
          <p:cNvSpPr txBox="1"/>
          <p:nvPr/>
        </p:nvSpPr>
        <p:spPr>
          <a:xfrm>
            <a:off x="3108960" y="3794760"/>
            <a:ext cx="8503920" cy="411480"/>
          </a:xfrm>
          <a:prstGeom prst="rect">
            <a:avLst/>
          </a:prstGeom>
          <a:noFill/>
          <a:ln/>
        </p:spPr>
        <p:txBody>
          <a:bodyPr wrap="square" lIns="0" tIns="0" rIns="0" bIns="0" rtlCol="0" anchor="ctr"/>
          <a:lstStyle/>
          <a:p>
            <a:pPr indent="0" marL="0">
              <a:buNone/>
            </a:pPr>
            <a:r>
              <a:rPr lang="en-US" sz="1500" dirty="0">
                <a:solidFill>
                  <a:schemeClr val="tx2"/>
                </a:solidFill>
              </a:rPr>
              <a:t>The data analyst queries PIPELINE_LOGS: connection refused to warehouse wh01, after one slow run</a:t>
            </a:r>
            <a:endParaRPr lang="en-US" sz="1500" dirty="0"/>
          </a:p>
        </p:txBody>
      </p:sp>
      <p:sp>
        <p:nvSpPr>
          <p:cNvPr id="16" name="demo 5 dot"/>
          <p:cNvSpPr/>
          <p:nvPr/>
        </p:nvSpPr>
        <p:spPr>
          <a:xfrm>
            <a:off x="777240" y="4572000"/>
            <a:ext cx="365760" cy="365760"/>
          </a:xfrm>
          <a:prstGeom prst="ellipse">
            <a:avLst/>
          </a:prstGeom>
          <a:solidFill>
            <a:schemeClr val="accent1"/>
          </a:solidFill>
          <a:ln w="25400">
            <a:solidFill>
              <a:schemeClr val="bg1"/>
            </a:solidFill>
            <a:prstDash val="solid"/>
          </a:ln>
        </p:spPr>
      </p:sp>
      <p:sp>
        <p:nvSpPr>
          <p:cNvPr id="17" name="Text 15"/>
          <p:cNvSpPr txBox="1"/>
          <p:nvPr/>
        </p:nvSpPr>
        <p:spPr>
          <a:xfrm>
            <a:off x="1371600" y="4553712"/>
            <a:ext cx="1920240" cy="411480"/>
          </a:xfrm>
          <a:prstGeom prst="rect">
            <a:avLst/>
          </a:prstGeom>
          <a:noFill/>
          <a:ln/>
        </p:spPr>
        <p:txBody>
          <a:bodyPr wrap="square" lIns="0" tIns="0" rIns="0" bIns="0" rtlCol="0" anchor="ctr"/>
          <a:lstStyle/>
          <a:p>
            <a:pPr indent="0" marL="0">
              <a:buNone/>
            </a:pPr>
            <a:r>
              <a:rPr lang="en-US" sz="1700" b="1" dirty="0">
                <a:solidFill>
                  <a:schemeClr val="tx1"/>
                </a:solidFill>
              </a:rPr>
              <a:t>Analysis</a:t>
            </a:r>
            <a:endParaRPr lang="en-US" sz="1700" dirty="0"/>
          </a:p>
        </p:txBody>
      </p:sp>
      <p:sp>
        <p:nvSpPr>
          <p:cNvPr id="18" name="Text 16"/>
          <p:cNvSpPr txBox="1"/>
          <p:nvPr/>
        </p:nvSpPr>
        <p:spPr>
          <a:xfrm>
            <a:off x="3108960" y="4553712"/>
            <a:ext cx="8503920" cy="411480"/>
          </a:xfrm>
          <a:prstGeom prst="rect">
            <a:avLst/>
          </a:prstGeom>
          <a:noFill/>
          <a:ln/>
        </p:spPr>
        <p:txBody>
          <a:bodyPr wrap="square" lIns="0" tIns="0" rIns="0" bIns="0" rtlCol="0" anchor="ctr"/>
          <a:lstStyle/>
          <a:p>
            <a:pPr indent="0" marL="0">
              <a:buNone/>
            </a:pPr>
            <a:r>
              <a:rPr lang="en-US" sz="1500" dirty="0">
                <a:solidFill>
                  <a:schemeClr val="tx2"/>
                </a:solidFill>
              </a:rPr>
              <a:t>Root cause, evidence and the suggested pre-approved action, posted to Slack</a:t>
            </a:r>
            <a:endParaRPr lang="en-US" sz="1500" dirty="0"/>
          </a:p>
        </p:txBody>
      </p:sp>
      <p:sp>
        <p:nvSpPr>
          <p:cNvPr id="19" name="demo 6 dot"/>
          <p:cNvSpPr/>
          <p:nvPr/>
        </p:nvSpPr>
        <p:spPr>
          <a:xfrm>
            <a:off x="777240" y="5330952"/>
            <a:ext cx="365760" cy="365760"/>
          </a:xfrm>
          <a:prstGeom prst="ellipse">
            <a:avLst/>
          </a:prstGeom>
          <a:solidFill>
            <a:schemeClr val="tx1"/>
          </a:solidFill>
          <a:ln w="25400">
            <a:solidFill>
              <a:schemeClr val="bg1"/>
            </a:solidFill>
            <a:prstDash val="solid"/>
          </a:ln>
        </p:spPr>
      </p:sp>
      <p:sp>
        <p:nvSpPr>
          <p:cNvPr id="20" name="Text 18"/>
          <p:cNvSpPr txBox="1"/>
          <p:nvPr/>
        </p:nvSpPr>
        <p:spPr>
          <a:xfrm>
            <a:off x="1371600" y="5312664"/>
            <a:ext cx="1920240" cy="411480"/>
          </a:xfrm>
          <a:prstGeom prst="rect">
            <a:avLst/>
          </a:prstGeom>
          <a:noFill/>
          <a:ln/>
        </p:spPr>
        <p:txBody>
          <a:bodyPr wrap="square" lIns="0" tIns="0" rIns="0" bIns="0" rtlCol="0" anchor="ctr"/>
          <a:lstStyle/>
          <a:p>
            <a:pPr indent="0" marL="0">
              <a:buNone/>
            </a:pPr>
            <a:r>
              <a:rPr lang="en-US" sz="1700" b="1" dirty="0">
                <a:solidFill>
                  <a:schemeClr val="tx1"/>
                </a:solidFill>
              </a:rPr>
              <a:t>Recovery</a:t>
            </a:r>
            <a:endParaRPr lang="en-US" sz="1700" dirty="0"/>
          </a:p>
        </p:txBody>
      </p:sp>
      <p:sp>
        <p:nvSpPr>
          <p:cNvPr id="21" name="Text 19"/>
          <p:cNvSpPr txBox="1"/>
          <p:nvPr/>
        </p:nvSpPr>
        <p:spPr>
          <a:xfrm>
            <a:off x="3108960" y="5312664"/>
            <a:ext cx="8503920" cy="411480"/>
          </a:xfrm>
          <a:prstGeom prst="rect">
            <a:avLst/>
          </a:prstGeom>
          <a:noFill/>
          <a:ln/>
        </p:spPr>
        <p:txBody>
          <a:bodyPr wrap="square" lIns="0" tIns="0" rIns="0" bIns="0" rtlCol="0" anchor="ctr"/>
          <a:lstStyle/>
          <a:p>
            <a:pPr indent="0" marL="0">
              <a:buNone/>
            </a:pPr>
            <a:r>
              <a:rPr lang="en-US" sz="1500" dirty="0">
                <a:solidFill>
                  <a:schemeClr val="tx2"/>
                </a:solidFill>
              </a:rPr>
              <a:t>Repeats join the incident; a recovery resolves it; the full timeline is in Exasol</a:t>
            </a:r>
            <a:endParaRPr lang="en-US" sz="15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Where it stands today</a:t>
            </a:r>
            <a:endParaRPr lang="en-US" sz="3200" dirty="0"/>
          </a:p>
        </p:txBody>
      </p:sp>
      <p:sp>
        <p:nvSpPr>
          <p:cNvPr id="3" name="status 1"/>
          <p:cNvSpPr/>
          <p:nvPr/>
        </p:nvSpPr>
        <p:spPr>
          <a:xfrm>
            <a:off x="548640" y="1463040"/>
            <a:ext cx="3520440" cy="3840480"/>
          </a:xfrm>
          <a:prstGeom prst="roundRect">
            <a:avLst>
              <a:gd name="adj" fmla="val 3117"/>
            </a:avLst>
          </a:prstGeom>
          <a:solidFill>
            <a:schemeClr val="bg2"/>
          </a:solidFill>
          <a:ln/>
        </p:spPr>
      </p:sp>
      <p:sp>
        <p:nvSpPr>
          <p:cNvPr id="4" name="status 1 circle"/>
          <p:cNvSpPr/>
          <p:nvPr/>
        </p:nvSpPr>
        <p:spPr>
          <a:xfrm>
            <a:off x="822960" y="1691640"/>
            <a:ext cx="548640" cy="548640"/>
          </a:xfrm>
          <a:prstGeom prst="ellipse">
            <a:avLst/>
          </a:prstGeom>
          <a:solidFill>
            <a:schemeClr val="accent2"/>
          </a:solidFill>
          <a:ln/>
        </p:spPr>
      </p:sp>
      <p:pic>
        <p:nvPicPr>
          <p:cNvPr id="5" name="status 1 icon" descr="preencoded.png">    </p:cNvPr>
          <p:cNvPicPr>
            <a:picLocks noChangeAspect="1"/>
          </p:cNvPicPr>
          <p:nvPr/>
        </p:nvPicPr>
        <p:blipFill>
          <a:blip r:embed="rId1"/>
          <a:stretch>
            <a:fillRect/>
          </a:stretch>
        </p:blipFill>
        <p:spPr>
          <a:xfrm>
            <a:off x="960120" y="1828800"/>
            <a:ext cx="274320" cy="274320"/>
          </a:xfrm>
          <a:prstGeom prst="rect">
            <a:avLst/>
          </a:prstGeom>
        </p:spPr>
      </p:pic>
      <p:sp>
        <p:nvSpPr>
          <p:cNvPr id="6" name="Text 3"/>
          <p:cNvSpPr txBox="1"/>
          <p:nvPr/>
        </p:nvSpPr>
        <p:spPr>
          <a:xfrm>
            <a:off x="1508760" y="1691640"/>
            <a:ext cx="2423160" cy="548640"/>
          </a:xfrm>
          <a:prstGeom prst="rect">
            <a:avLst/>
          </a:prstGeom>
          <a:noFill/>
          <a:ln/>
        </p:spPr>
        <p:txBody>
          <a:bodyPr wrap="square" lIns="0" tIns="0" rIns="0" bIns="0" rtlCol="0" anchor="ctr"/>
          <a:lstStyle/>
          <a:p>
            <a:pPr indent="0" marL="0">
              <a:buNone/>
            </a:pPr>
            <a:r>
              <a:rPr lang="en-US" sz="1700" b="1" dirty="0">
                <a:solidFill>
                  <a:schemeClr val="tx1"/>
                </a:solidFill>
              </a:rPr>
              <a:t>Running on a live Exasol</a:t>
            </a:r>
            <a:endParaRPr lang="en-US" sz="1700" dirty="0"/>
          </a:p>
        </p:txBody>
      </p:sp>
      <p:sp>
        <p:nvSpPr>
          <p:cNvPr id="7" name="Text 4"/>
          <p:cNvSpPr txBox="1"/>
          <p:nvPr/>
        </p:nvSpPr>
        <p:spPr>
          <a:xfrm>
            <a:off x="822960" y="2514600"/>
            <a:ext cx="301752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Ingest, correlation, routing</a:t>
            </a:r>
            <a:endParaRPr lang="en-US" sz="1500" dirty="0"/>
          </a:p>
          <a:p>
            <a:pPr marL="342900" indent="-342900">
              <a:spcAft>
                <a:spcPts val="800"/>
              </a:spcAft>
              <a:buSzPct val="100000"/>
              <a:buChar char="•"/>
            </a:pPr>
            <a:r>
              <a:rPr lang="en-US" sz="1500" dirty="0">
                <a:solidFill>
                  <a:schemeClr val="tx2"/>
                </a:solidFill>
              </a:rPr>
              <a:t>Slack and signed webhook delivery</a:t>
            </a:r>
            <a:endParaRPr lang="en-US" sz="1500" dirty="0"/>
          </a:p>
          <a:p>
            <a:pPr marL="342900" indent="-342900">
              <a:spcAft>
                <a:spcPts val="800"/>
              </a:spcAft>
              <a:buSzPct val="100000"/>
              <a:buChar char="•"/>
            </a:pPr>
            <a:r>
              <a:rPr lang="en-US" sz="1500" dirty="0">
                <a:solidFill>
                  <a:schemeClr val="tx2"/>
                </a:solidFill>
              </a:rPr>
              <a:t>Auto-resolve and full timeline</a:t>
            </a:r>
            <a:endParaRPr lang="en-US" sz="1500" dirty="0"/>
          </a:p>
          <a:p>
            <a:pPr marL="342900" indent="-342900">
              <a:spcAft>
                <a:spcPts val="800"/>
              </a:spcAft>
              <a:buSzPct val="100000"/>
              <a:buChar char="•"/>
            </a:pPr>
            <a:r>
              <a:rPr lang="en-US" sz="1500" dirty="0">
                <a:solidFill>
                  <a:schemeClr val="tx2"/>
                </a:solidFill>
              </a:rPr>
              <a:t>Migrations, job queue, least-privilege users</a:t>
            </a:r>
            <a:endParaRPr lang="en-US" sz="1500" dirty="0"/>
          </a:p>
          <a:p>
            <a:pPr marL="342900" indent="-342900">
              <a:spcAft>
                <a:spcPts val="800"/>
              </a:spcAft>
              <a:buSzPct val="100000"/>
              <a:buChar char="•"/>
            </a:pPr>
            <a:r>
              <a:rPr lang="en-US" sz="1500" dirty="0">
                <a:solidFill>
                  <a:schemeClr val="tx2"/>
                </a:solidFill>
              </a:rPr>
              <a:t>224 automated tests</a:t>
            </a:r>
            <a:endParaRPr lang="en-US" sz="1500" dirty="0"/>
          </a:p>
        </p:txBody>
      </p:sp>
      <p:sp>
        <p:nvSpPr>
          <p:cNvPr id="8" name="status 2"/>
          <p:cNvSpPr/>
          <p:nvPr/>
        </p:nvSpPr>
        <p:spPr>
          <a:xfrm>
            <a:off x="4297680" y="1463040"/>
            <a:ext cx="3520440" cy="3840480"/>
          </a:xfrm>
          <a:prstGeom prst="roundRect">
            <a:avLst>
              <a:gd name="adj" fmla="val 3117"/>
            </a:avLst>
          </a:prstGeom>
          <a:solidFill>
            <a:schemeClr val="bg2"/>
          </a:solidFill>
          <a:ln/>
        </p:spPr>
      </p:sp>
      <p:sp>
        <p:nvSpPr>
          <p:cNvPr id="9" name="status 2 circle"/>
          <p:cNvSpPr/>
          <p:nvPr/>
        </p:nvSpPr>
        <p:spPr>
          <a:xfrm>
            <a:off x="4572000" y="1691640"/>
            <a:ext cx="548640" cy="548640"/>
          </a:xfrm>
          <a:prstGeom prst="ellipse">
            <a:avLst/>
          </a:prstGeom>
          <a:solidFill>
            <a:schemeClr val="accent1"/>
          </a:solidFill>
          <a:ln/>
        </p:spPr>
      </p:sp>
      <p:pic>
        <p:nvPicPr>
          <p:cNvPr id="10" name="status 2 icon" descr="preencoded.png">    </p:cNvPr>
          <p:cNvPicPr>
            <a:picLocks noChangeAspect="1"/>
          </p:cNvPicPr>
          <p:nvPr/>
        </p:nvPicPr>
        <p:blipFill>
          <a:blip r:embed="rId2"/>
          <a:stretch>
            <a:fillRect/>
          </a:stretch>
        </p:blipFill>
        <p:spPr>
          <a:xfrm>
            <a:off x="4709160" y="1828800"/>
            <a:ext cx="274320" cy="274320"/>
          </a:xfrm>
          <a:prstGeom prst="rect">
            <a:avLst/>
          </a:prstGeom>
        </p:spPr>
      </p:pic>
      <p:sp>
        <p:nvSpPr>
          <p:cNvPr id="11" name="Text 7"/>
          <p:cNvSpPr txBox="1"/>
          <p:nvPr/>
        </p:nvSpPr>
        <p:spPr>
          <a:xfrm>
            <a:off x="5257800" y="1691640"/>
            <a:ext cx="2423160" cy="548640"/>
          </a:xfrm>
          <a:prstGeom prst="rect">
            <a:avLst/>
          </a:prstGeom>
          <a:noFill/>
          <a:ln/>
        </p:spPr>
        <p:txBody>
          <a:bodyPr wrap="square" lIns="0" tIns="0" rIns="0" bIns="0" rtlCol="0" anchor="ctr"/>
          <a:lstStyle/>
          <a:p>
            <a:pPr indent="0" marL="0">
              <a:buNone/>
            </a:pPr>
            <a:r>
              <a:rPr lang="en-US" sz="1700" b="1" dirty="0">
                <a:solidFill>
                  <a:schemeClr val="tx1"/>
                </a:solidFill>
              </a:rPr>
              <a:t>Built, live model run pending</a:t>
            </a:r>
            <a:endParaRPr lang="en-US" sz="1700" dirty="0"/>
          </a:p>
        </p:txBody>
      </p:sp>
      <p:sp>
        <p:nvSpPr>
          <p:cNvPr id="12" name="Text 8"/>
          <p:cNvSpPr txBox="1"/>
          <p:nvPr/>
        </p:nvSpPr>
        <p:spPr>
          <a:xfrm>
            <a:off x="4572000" y="2514600"/>
            <a:ext cx="301752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Agent runtime with subagents and budgets</a:t>
            </a:r>
            <a:endParaRPr lang="en-US" sz="1500" dirty="0"/>
          </a:p>
          <a:p>
            <a:pPr marL="342900" indent="-342900">
              <a:spcAft>
                <a:spcPts val="800"/>
              </a:spcAft>
              <a:buSzPct val="100000"/>
              <a:buChar char="•"/>
            </a:pPr>
            <a:r>
              <a:rPr lang="en-US" sz="1500" dirty="0">
                <a:solidFill>
                  <a:schemeClr val="tx2"/>
                </a:solidFill>
              </a:rPr>
              <a:t>Read-only Exasol toolset</a:t>
            </a:r>
            <a:endParaRPr lang="en-US" sz="1500" dirty="0"/>
          </a:p>
          <a:p>
            <a:pPr marL="342900" indent="-342900">
              <a:spcAft>
                <a:spcPts val="800"/>
              </a:spcAft>
              <a:buSzPct val="100000"/>
              <a:buChar char="•"/>
            </a:pPr>
            <a:r>
              <a:rPr lang="en-US" sz="1500" dirty="0">
                <a:solidFill>
                  <a:schemeClr val="tx2"/>
                </a:solidFill>
              </a:rPr>
              <a:t>Analysis attached to incidents and messages</a:t>
            </a:r>
            <a:endParaRPr lang="en-US" sz="1500" dirty="0"/>
          </a:p>
          <a:p>
            <a:pPr marL="342900" indent="-342900">
              <a:spcAft>
                <a:spcPts val="800"/>
              </a:spcAft>
              <a:buSzPct val="100000"/>
              <a:buChar char="•"/>
            </a:pPr>
            <a:r>
              <a:rPr lang="en-US" sz="1500" dirty="0">
                <a:solidFill>
                  <a:schemeClr val="tx2"/>
                </a:solidFill>
              </a:rPr>
              <a:t>Claude, OpenAI and Ollama adapters</a:t>
            </a:r>
            <a:endParaRPr lang="en-US" sz="1500" dirty="0"/>
          </a:p>
        </p:txBody>
      </p:sp>
      <p:sp>
        <p:nvSpPr>
          <p:cNvPr id="13" name="status 3"/>
          <p:cNvSpPr/>
          <p:nvPr/>
        </p:nvSpPr>
        <p:spPr>
          <a:xfrm>
            <a:off x="8046720" y="1463040"/>
            <a:ext cx="3520440" cy="3840480"/>
          </a:xfrm>
          <a:prstGeom prst="roundRect">
            <a:avLst>
              <a:gd name="adj" fmla="val 3117"/>
            </a:avLst>
          </a:prstGeom>
          <a:solidFill>
            <a:schemeClr val="bg2"/>
          </a:solidFill>
          <a:ln/>
        </p:spPr>
      </p:sp>
      <p:sp>
        <p:nvSpPr>
          <p:cNvPr id="14" name="status 3 circle"/>
          <p:cNvSpPr/>
          <p:nvPr/>
        </p:nvSpPr>
        <p:spPr>
          <a:xfrm>
            <a:off x="8321040" y="1691640"/>
            <a:ext cx="548640" cy="548640"/>
          </a:xfrm>
          <a:prstGeom prst="ellipse">
            <a:avLst/>
          </a:prstGeom>
          <a:solidFill>
            <a:schemeClr val="accent4"/>
          </a:solidFill>
          <a:ln/>
        </p:spPr>
      </p:sp>
      <p:pic>
        <p:nvPicPr>
          <p:cNvPr id="15" name="status 3 icon" descr="preencoded.png">    </p:cNvPr>
          <p:cNvPicPr>
            <a:picLocks noChangeAspect="1"/>
          </p:cNvPicPr>
          <p:nvPr/>
        </p:nvPicPr>
        <p:blipFill>
          <a:blip r:embed="rId3"/>
          <a:stretch>
            <a:fillRect/>
          </a:stretch>
        </p:blipFill>
        <p:spPr>
          <a:xfrm>
            <a:off x="8458200" y="1828800"/>
            <a:ext cx="274320" cy="274320"/>
          </a:xfrm>
          <a:prstGeom prst="rect">
            <a:avLst/>
          </a:prstGeom>
        </p:spPr>
      </p:pic>
      <p:sp>
        <p:nvSpPr>
          <p:cNvPr id="16" name="Text 11"/>
          <p:cNvSpPr txBox="1"/>
          <p:nvPr/>
        </p:nvSpPr>
        <p:spPr>
          <a:xfrm>
            <a:off x="9006840" y="1691640"/>
            <a:ext cx="2423160" cy="548640"/>
          </a:xfrm>
          <a:prstGeom prst="rect">
            <a:avLst/>
          </a:prstGeom>
          <a:noFill/>
          <a:ln/>
        </p:spPr>
        <p:txBody>
          <a:bodyPr wrap="square" lIns="0" tIns="0" rIns="0" bIns="0" rtlCol="0" anchor="ctr"/>
          <a:lstStyle/>
          <a:p>
            <a:pPr indent="0" marL="0">
              <a:buNone/>
            </a:pPr>
            <a:r>
              <a:rPr lang="en-US" sz="1700" b="1" dirty="0">
                <a:solidFill>
                  <a:schemeClr val="tx1"/>
                </a:solidFill>
              </a:rPr>
              <a:t>Next</a:t>
            </a:r>
            <a:endParaRPr lang="en-US" sz="1700" dirty="0"/>
          </a:p>
        </p:txBody>
      </p:sp>
      <p:sp>
        <p:nvSpPr>
          <p:cNvPr id="17" name="Text 12"/>
          <p:cNvSpPr txBox="1"/>
          <p:nvPr/>
        </p:nvSpPr>
        <p:spPr>
          <a:xfrm>
            <a:off x="8321040" y="2514600"/>
            <a:ext cx="301752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Policy-gated remediation for new incidents</a:t>
            </a:r>
            <a:endParaRPr lang="en-US" sz="1500" dirty="0"/>
          </a:p>
          <a:p>
            <a:pPr marL="342900" indent="-342900">
              <a:spcAft>
                <a:spcPts val="800"/>
              </a:spcAft>
              <a:buSzPct val="100000"/>
              <a:buChar char="•"/>
            </a:pPr>
            <a:r>
              <a:rPr lang="en-US" sz="1500" dirty="0">
                <a:solidFill>
                  <a:schemeClr val="tx2"/>
                </a:solidFill>
              </a:rPr>
              <a:t>CLI runner on the new ingest API</a:t>
            </a:r>
            <a:endParaRPr lang="en-US" sz="1500" dirty="0"/>
          </a:p>
          <a:p>
            <a:pPr marL="342900" indent="-342900">
              <a:spcAft>
                <a:spcPts val="800"/>
              </a:spcAft>
              <a:buSzPct val="100000"/>
              <a:buChar char="•"/>
            </a:pPr>
            <a:r>
              <a:rPr lang="en-US" sz="1500" dirty="0">
                <a:solidFill>
                  <a:schemeClr val="tx2"/>
                </a:solidFill>
              </a:rPr>
              <a:t>Knowledge and runbooks (RAG with VECTOR_COSINE)</a:t>
            </a:r>
            <a:endParaRPr lang="en-US" sz="1500" dirty="0"/>
          </a:p>
          <a:p>
            <a:pPr marL="342900" indent="-342900">
              <a:spcAft>
                <a:spcPts val="800"/>
              </a:spcAft>
              <a:buSzPct val="100000"/>
              <a:buChar char="•"/>
            </a:pPr>
            <a:r>
              <a:rPr lang="en-US" sz="1500" dirty="0">
                <a:solidFill>
                  <a:schemeClr val="tx2"/>
                </a:solidFill>
              </a:rPr>
              <a:t>SSO, RBAC and a Helm chart</a:t>
            </a:r>
            <a:endParaRPr lang="en-US" sz="15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Roadmap</a:t>
            </a:r>
            <a:endParaRPr lang="en-US" sz="3200" dirty="0"/>
          </a:p>
        </p:txBody>
      </p:sp>
      <p:sp>
        <p:nvSpPr>
          <p:cNvPr id="3" name="roadmap line"/>
          <p:cNvSpPr/>
          <p:nvPr/>
        </p:nvSpPr>
        <p:spPr>
          <a:xfrm>
            <a:off x="1188720" y="2514600"/>
            <a:ext cx="9601200" cy="0"/>
          </a:xfrm>
          <a:prstGeom prst="line">
            <a:avLst/>
          </a:prstGeom>
          <a:noFill/>
          <a:ln w="25400">
            <a:solidFill>
              <a:schemeClr val="accent5"/>
            </a:solidFill>
            <a:prstDash val="solid"/>
          </a:ln>
        </p:spPr>
      </p:sp>
      <p:sp>
        <p:nvSpPr>
          <p:cNvPr id="4" name="phase 0 dot"/>
          <p:cNvSpPr/>
          <p:nvPr/>
        </p:nvSpPr>
        <p:spPr>
          <a:xfrm>
            <a:off x="868680" y="2194560"/>
            <a:ext cx="640080" cy="640080"/>
          </a:xfrm>
          <a:prstGeom prst="ellipse">
            <a:avLst/>
          </a:prstGeom>
          <a:solidFill>
            <a:schemeClr val="accent1"/>
          </a:solidFill>
          <a:ln w="25400">
            <a:solidFill>
              <a:schemeClr val="accent1"/>
            </a:solidFill>
            <a:prstDash val="solid"/>
          </a:ln>
        </p:spPr>
      </p:sp>
      <p:sp>
        <p:nvSpPr>
          <p:cNvPr id="5" name="Text 3"/>
          <p:cNvSpPr txBox="1"/>
          <p:nvPr/>
        </p:nvSpPr>
        <p:spPr>
          <a:xfrm>
            <a:off x="868680" y="219456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rPr>
              <a:t>0</a:t>
            </a:r>
            <a:endParaRPr lang="en-US" sz="1800" dirty="0"/>
          </a:p>
        </p:txBody>
      </p:sp>
      <p:sp>
        <p:nvSpPr>
          <p:cNvPr id="6" name="Text 4"/>
          <p:cNvSpPr txBox="1"/>
          <p:nvPr/>
        </p:nvSpPr>
        <p:spPr>
          <a:xfrm>
            <a:off x="548640" y="3063240"/>
            <a:ext cx="1463040" cy="411480"/>
          </a:xfrm>
          <a:prstGeom prst="rect">
            <a:avLst/>
          </a:prstGeom>
          <a:noFill/>
          <a:ln/>
        </p:spPr>
        <p:txBody>
          <a:bodyPr wrap="square" lIns="0" tIns="0" rIns="0" bIns="0" rtlCol="0" anchor="t"/>
          <a:lstStyle/>
          <a:p>
            <a:pPr algn="ctr" indent="0" marL="0">
              <a:buNone/>
            </a:pPr>
            <a:r>
              <a:rPr lang="en-US" sz="1500" b="1" dirty="0">
                <a:solidFill>
                  <a:schemeClr val="tx1"/>
                </a:solidFill>
              </a:rPr>
              <a:t>Foundations</a:t>
            </a:r>
            <a:endParaRPr lang="en-US" sz="1500" dirty="0"/>
          </a:p>
        </p:txBody>
      </p:sp>
      <p:sp>
        <p:nvSpPr>
          <p:cNvPr id="7" name="Text 5"/>
          <p:cNvSpPr txBox="1"/>
          <p:nvPr/>
        </p:nvSpPr>
        <p:spPr>
          <a:xfrm>
            <a:off x="548640" y="3520440"/>
            <a:ext cx="1463040" cy="914400"/>
          </a:xfrm>
          <a:prstGeom prst="rect">
            <a:avLst/>
          </a:prstGeom>
          <a:noFill/>
          <a:ln/>
        </p:spPr>
        <p:txBody>
          <a:bodyPr wrap="square" lIns="0" tIns="0" rIns="0" bIns="0" rtlCol="0" anchor="t"/>
          <a:lstStyle/>
          <a:p>
            <a:pPr algn="ctr" indent="0" marL="0">
              <a:buNone/>
            </a:pPr>
            <a:r>
              <a:rPr lang="en-US" sz="1250" dirty="0">
                <a:solidFill>
                  <a:schemeClr val="tx2"/>
                </a:solidFill>
              </a:rPr>
              <a:t>Exasol schema, queue, specs</a:t>
            </a:r>
            <a:endParaRPr lang="en-US" sz="1250" dirty="0"/>
          </a:p>
        </p:txBody>
      </p:sp>
      <p:sp>
        <p:nvSpPr>
          <p:cNvPr id="8" name="phase 1 dot"/>
          <p:cNvSpPr/>
          <p:nvPr/>
        </p:nvSpPr>
        <p:spPr>
          <a:xfrm>
            <a:off x="2468880" y="2194560"/>
            <a:ext cx="640080" cy="640080"/>
          </a:xfrm>
          <a:prstGeom prst="ellipse">
            <a:avLst/>
          </a:prstGeom>
          <a:solidFill>
            <a:schemeClr val="accent1"/>
          </a:solidFill>
          <a:ln w="25400">
            <a:solidFill>
              <a:schemeClr val="accent1"/>
            </a:solidFill>
            <a:prstDash val="solid"/>
          </a:ln>
        </p:spPr>
      </p:sp>
      <p:sp>
        <p:nvSpPr>
          <p:cNvPr id="9" name="Text 7"/>
          <p:cNvSpPr txBox="1"/>
          <p:nvPr/>
        </p:nvSpPr>
        <p:spPr>
          <a:xfrm>
            <a:off x="2468880" y="219456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10" name="Text 8"/>
          <p:cNvSpPr txBox="1"/>
          <p:nvPr/>
        </p:nvSpPr>
        <p:spPr>
          <a:xfrm>
            <a:off x="2148840" y="3063240"/>
            <a:ext cx="1463040" cy="411480"/>
          </a:xfrm>
          <a:prstGeom prst="rect">
            <a:avLst/>
          </a:prstGeom>
          <a:noFill/>
          <a:ln/>
        </p:spPr>
        <p:txBody>
          <a:bodyPr wrap="square" lIns="0" tIns="0" rIns="0" bIns="0" rtlCol="0" anchor="t"/>
          <a:lstStyle/>
          <a:p>
            <a:pPr algn="ctr" indent="0" marL="0">
              <a:buNone/>
            </a:pPr>
            <a:r>
              <a:rPr lang="en-US" sz="1500" b="1" dirty="0">
                <a:solidFill>
                  <a:schemeClr val="tx1"/>
                </a:solidFill>
              </a:rPr>
              <a:t>Alert to channel</a:t>
            </a:r>
            <a:endParaRPr lang="en-US" sz="1500" dirty="0"/>
          </a:p>
        </p:txBody>
      </p:sp>
      <p:sp>
        <p:nvSpPr>
          <p:cNvPr id="11" name="Text 9"/>
          <p:cNvSpPr txBox="1"/>
          <p:nvPr/>
        </p:nvSpPr>
        <p:spPr>
          <a:xfrm>
            <a:off x="2148840" y="3520440"/>
            <a:ext cx="1463040" cy="914400"/>
          </a:xfrm>
          <a:prstGeom prst="rect">
            <a:avLst/>
          </a:prstGeom>
          <a:noFill/>
          <a:ln/>
        </p:spPr>
        <p:txBody>
          <a:bodyPr wrap="square" lIns="0" tIns="0" rIns="0" bIns="0" rtlCol="0" anchor="t"/>
          <a:lstStyle/>
          <a:p>
            <a:pPr algn="ctr" indent="0" marL="0">
              <a:buNone/>
            </a:pPr>
            <a:r>
              <a:rPr lang="en-US" sz="1250" dirty="0">
                <a:solidFill>
                  <a:schemeClr val="tx2"/>
                </a:solidFill>
              </a:rPr>
              <a:t>Ingest, correlate, route</a:t>
            </a:r>
            <a:endParaRPr lang="en-US" sz="1250" dirty="0"/>
          </a:p>
        </p:txBody>
      </p:sp>
      <p:sp>
        <p:nvSpPr>
          <p:cNvPr id="12" name="phase 2 dot"/>
          <p:cNvSpPr/>
          <p:nvPr/>
        </p:nvSpPr>
        <p:spPr>
          <a:xfrm>
            <a:off x="4069080" y="2194560"/>
            <a:ext cx="640080" cy="640080"/>
          </a:xfrm>
          <a:prstGeom prst="ellipse">
            <a:avLst/>
          </a:prstGeom>
          <a:solidFill>
            <a:schemeClr val="accent1"/>
          </a:solidFill>
          <a:ln w="25400">
            <a:solidFill>
              <a:schemeClr val="accent1"/>
            </a:solidFill>
            <a:prstDash val="solid"/>
          </a:ln>
        </p:spPr>
      </p:sp>
      <p:sp>
        <p:nvSpPr>
          <p:cNvPr id="13" name="Text 11"/>
          <p:cNvSpPr txBox="1"/>
          <p:nvPr/>
        </p:nvSpPr>
        <p:spPr>
          <a:xfrm>
            <a:off x="4069080" y="219456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4" name="Text 12"/>
          <p:cNvSpPr txBox="1"/>
          <p:nvPr/>
        </p:nvSpPr>
        <p:spPr>
          <a:xfrm>
            <a:off x="3749040" y="3063240"/>
            <a:ext cx="1463040" cy="411480"/>
          </a:xfrm>
          <a:prstGeom prst="rect">
            <a:avLst/>
          </a:prstGeom>
          <a:noFill/>
          <a:ln/>
        </p:spPr>
        <p:txBody>
          <a:bodyPr wrap="square" lIns="0" tIns="0" rIns="0" bIns="0" rtlCol="0" anchor="t"/>
          <a:lstStyle/>
          <a:p>
            <a:pPr algn="ctr" indent="0" marL="0">
              <a:buNone/>
            </a:pPr>
            <a:r>
              <a:rPr lang="en-US" sz="1500" b="1" dirty="0">
                <a:solidFill>
                  <a:schemeClr val="tx1"/>
                </a:solidFill>
              </a:rPr>
              <a:t>AI SRE</a:t>
            </a:r>
            <a:endParaRPr lang="en-US" sz="1500" dirty="0"/>
          </a:p>
        </p:txBody>
      </p:sp>
      <p:sp>
        <p:nvSpPr>
          <p:cNvPr id="15" name="Text 13"/>
          <p:cNvSpPr txBox="1"/>
          <p:nvPr/>
        </p:nvSpPr>
        <p:spPr>
          <a:xfrm>
            <a:off x="3749040" y="3520440"/>
            <a:ext cx="1463040" cy="914400"/>
          </a:xfrm>
          <a:prstGeom prst="rect">
            <a:avLst/>
          </a:prstGeom>
          <a:noFill/>
          <a:ln/>
        </p:spPr>
        <p:txBody>
          <a:bodyPr wrap="square" lIns="0" tIns="0" rIns="0" bIns="0" rtlCol="0" anchor="t"/>
          <a:lstStyle/>
          <a:p>
            <a:pPr algn="ctr" indent="0" marL="0">
              <a:buNone/>
            </a:pPr>
            <a:r>
              <a:rPr lang="en-US" sz="1250" dirty="0">
                <a:solidFill>
                  <a:schemeClr val="tx2"/>
                </a:solidFill>
              </a:rPr>
              <a:t>Agents, tools, budgets</a:t>
            </a:r>
            <a:endParaRPr lang="en-US" sz="1250" dirty="0"/>
          </a:p>
        </p:txBody>
      </p:sp>
      <p:sp>
        <p:nvSpPr>
          <p:cNvPr id="16" name="phase 3 dot"/>
          <p:cNvSpPr/>
          <p:nvPr/>
        </p:nvSpPr>
        <p:spPr>
          <a:xfrm>
            <a:off x="5669280" y="2194560"/>
            <a:ext cx="640080" cy="640080"/>
          </a:xfrm>
          <a:prstGeom prst="ellipse">
            <a:avLst/>
          </a:prstGeom>
          <a:solidFill>
            <a:schemeClr val="bg1"/>
          </a:solidFill>
          <a:ln w="25400">
            <a:solidFill>
              <a:schemeClr val="accent4"/>
            </a:solidFill>
            <a:prstDash val="solid"/>
          </a:ln>
        </p:spPr>
      </p:sp>
      <p:sp>
        <p:nvSpPr>
          <p:cNvPr id="17" name="Text 15"/>
          <p:cNvSpPr txBox="1"/>
          <p:nvPr/>
        </p:nvSpPr>
        <p:spPr>
          <a:xfrm>
            <a:off x="5669280" y="219456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8" name="Text 16"/>
          <p:cNvSpPr txBox="1"/>
          <p:nvPr/>
        </p:nvSpPr>
        <p:spPr>
          <a:xfrm>
            <a:off x="5349240" y="3063240"/>
            <a:ext cx="1463040" cy="411480"/>
          </a:xfrm>
          <a:prstGeom prst="rect">
            <a:avLst/>
          </a:prstGeom>
          <a:noFill/>
          <a:ln/>
        </p:spPr>
        <p:txBody>
          <a:bodyPr wrap="square" lIns="0" tIns="0" rIns="0" bIns="0" rtlCol="0" anchor="t"/>
          <a:lstStyle/>
          <a:p>
            <a:pPr algn="ctr" indent="0" marL="0">
              <a:buNone/>
            </a:pPr>
            <a:r>
              <a:rPr lang="en-US" sz="1500" b="1" dirty="0">
                <a:solidFill>
                  <a:schemeClr val="tx1"/>
                </a:solidFill>
              </a:rPr>
              <a:t>Remediation</a:t>
            </a:r>
            <a:endParaRPr lang="en-US" sz="1500" dirty="0"/>
          </a:p>
        </p:txBody>
      </p:sp>
      <p:sp>
        <p:nvSpPr>
          <p:cNvPr id="19" name="Text 17"/>
          <p:cNvSpPr txBox="1"/>
          <p:nvPr/>
        </p:nvSpPr>
        <p:spPr>
          <a:xfrm>
            <a:off x="5349240" y="3520440"/>
            <a:ext cx="1463040" cy="914400"/>
          </a:xfrm>
          <a:prstGeom prst="rect">
            <a:avLst/>
          </a:prstGeom>
          <a:noFill/>
          <a:ln/>
        </p:spPr>
        <p:txBody>
          <a:bodyPr wrap="square" lIns="0" tIns="0" rIns="0" bIns="0" rtlCol="0" anchor="t"/>
          <a:lstStyle/>
          <a:p>
            <a:pPr algn="ctr" indent="0" marL="0">
              <a:buNone/>
            </a:pPr>
            <a:r>
              <a:rPr lang="en-US" sz="1250" dirty="0">
                <a:solidFill>
                  <a:schemeClr val="tx2"/>
                </a:solidFill>
              </a:rPr>
              <a:t>Policies, approvals, verification</a:t>
            </a:r>
            <a:endParaRPr lang="en-US" sz="1250" dirty="0"/>
          </a:p>
        </p:txBody>
      </p:sp>
      <p:sp>
        <p:nvSpPr>
          <p:cNvPr id="20" name="phase 4 dot"/>
          <p:cNvSpPr/>
          <p:nvPr/>
        </p:nvSpPr>
        <p:spPr>
          <a:xfrm>
            <a:off x="7269480" y="2194560"/>
            <a:ext cx="640080" cy="640080"/>
          </a:xfrm>
          <a:prstGeom prst="ellipse">
            <a:avLst/>
          </a:prstGeom>
          <a:solidFill>
            <a:schemeClr val="bg1"/>
          </a:solidFill>
          <a:ln w="25400">
            <a:solidFill>
              <a:schemeClr val="accent4"/>
            </a:solidFill>
            <a:prstDash val="solid"/>
          </a:ln>
        </p:spPr>
      </p:sp>
      <p:sp>
        <p:nvSpPr>
          <p:cNvPr id="21" name="Text 19"/>
          <p:cNvSpPr txBox="1"/>
          <p:nvPr/>
        </p:nvSpPr>
        <p:spPr>
          <a:xfrm>
            <a:off x="7269480" y="219456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22" name="Text 20"/>
          <p:cNvSpPr txBox="1"/>
          <p:nvPr/>
        </p:nvSpPr>
        <p:spPr>
          <a:xfrm>
            <a:off x="6949440" y="3063240"/>
            <a:ext cx="1463040" cy="411480"/>
          </a:xfrm>
          <a:prstGeom prst="rect">
            <a:avLst/>
          </a:prstGeom>
          <a:noFill/>
          <a:ln/>
        </p:spPr>
        <p:txBody>
          <a:bodyPr wrap="square" lIns="0" tIns="0" rIns="0" bIns="0" rtlCol="0" anchor="t"/>
          <a:lstStyle/>
          <a:p>
            <a:pPr algn="ctr" indent="0" marL="0">
              <a:buNone/>
            </a:pPr>
            <a:r>
              <a:rPr lang="en-US" sz="1500" b="1" dirty="0">
                <a:solidFill>
                  <a:schemeClr val="tx1"/>
                </a:solidFill>
              </a:rPr>
              <a:t>Knowledge</a:t>
            </a:r>
            <a:endParaRPr lang="en-US" sz="1500" dirty="0"/>
          </a:p>
        </p:txBody>
      </p:sp>
      <p:sp>
        <p:nvSpPr>
          <p:cNvPr id="23" name="Text 21"/>
          <p:cNvSpPr txBox="1"/>
          <p:nvPr/>
        </p:nvSpPr>
        <p:spPr>
          <a:xfrm>
            <a:off x="6949440" y="3520440"/>
            <a:ext cx="1463040" cy="914400"/>
          </a:xfrm>
          <a:prstGeom prst="rect">
            <a:avLst/>
          </a:prstGeom>
          <a:noFill/>
          <a:ln/>
        </p:spPr>
        <p:txBody>
          <a:bodyPr wrap="square" lIns="0" tIns="0" rIns="0" bIns="0" rtlCol="0" anchor="t"/>
          <a:lstStyle/>
          <a:p>
            <a:pPr algn="ctr" indent="0" marL="0">
              <a:buNone/>
            </a:pPr>
            <a:r>
              <a:rPr lang="en-US" sz="1250" dirty="0">
                <a:solidFill>
                  <a:schemeClr val="tx2"/>
                </a:solidFill>
              </a:rPr>
              <a:t>Runbooks and memory, RAG in Exasol</a:t>
            </a:r>
            <a:endParaRPr lang="en-US" sz="1250" dirty="0"/>
          </a:p>
        </p:txBody>
      </p:sp>
      <p:sp>
        <p:nvSpPr>
          <p:cNvPr id="24" name="phase 5 dot"/>
          <p:cNvSpPr/>
          <p:nvPr/>
        </p:nvSpPr>
        <p:spPr>
          <a:xfrm>
            <a:off x="8869680" y="2194560"/>
            <a:ext cx="640080" cy="640080"/>
          </a:xfrm>
          <a:prstGeom prst="ellipse">
            <a:avLst/>
          </a:prstGeom>
          <a:solidFill>
            <a:schemeClr val="bg1"/>
          </a:solidFill>
          <a:ln w="25400">
            <a:solidFill>
              <a:schemeClr val="accent4"/>
            </a:solidFill>
            <a:prstDash val="solid"/>
          </a:ln>
        </p:spPr>
      </p:sp>
      <p:sp>
        <p:nvSpPr>
          <p:cNvPr id="25" name="Text 23"/>
          <p:cNvSpPr txBox="1"/>
          <p:nvPr/>
        </p:nvSpPr>
        <p:spPr>
          <a:xfrm>
            <a:off x="8869680" y="219456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rPr>
              <a:t>5</a:t>
            </a:r>
            <a:endParaRPr lang="en-US" sz="1800" dirty="0"/>
          </a:p>
        </p:txBody>
      </p:sp>
      <p:sp>
        <p:nvSpPr>
          <p:cNvPr id="26" name="Text 24"/>
          <p:cNvSpPr txBox="1"/>
          <p:nvPr/>
        </p:nvSpPr>
        <p:spPr>
          <a:xfrm>
            <a:off x="8549640" y="3063240"/>
            <a:ext cx="1463040" cy="411480"/>
          </a:xfrm>
          <a:prstGeom prst="rect">
            <a:avLst/>
          </a:prstGeom>
          <a:noFill/>
          <a:ln/>
        </p:spPr>
        <p:txBody>
          <a:bodyPr wrap="square" lIns="0" tIns="0" rIns="0" bIns="0" rtlCol="0" anchor="t"/>
          <a:lstStyle/>
          <a:p>
            <a:pPr algn="ctr" indent="0" marL="0">
              <a:buNone/>
            </a:pPr>
            <a:r>
              <a:rPr lang="en-US" sz="1500" b="1" dirty="0">
                <a:solidFill>
                  <a:schemeClr val="tx1"/>
                </a:solidFill>
              </a:rPr>
              <a:t>Hardening</a:t>
            </a:r>
            <a:endParaRPr lang="en-US" sz="1500" dirty="0"/>
          </a:p>
        </p:txBody>
      </p:sp>
      <p:sp>
        <p:nvSpPr>
          <p:cNvPr id="27" name="Text 25"/>
          <p:cNvSpPr txBox="1"/>
          <p:nvPr/>
        </p:nvSpPr>
        <p:spPr>
          <a:xfrm>
            <a:off x="8549640" y="3520440"/>
            <a:ext cx="1463040" cy="914400"/>
          </a:xfrm>
          <a:prstGeom prst="rect">
            <a:avLst/>
          </a:prstGeom>
          <a:noFill/>
          <a:ln/>
        </p:spPr>
        <p:txBody>
          <a:bodyPr wrap="square" lIns="0" tIns="0" rIns="0" bIns="0" rtlCol="0" anchor="t"/>
          <a:lstStyle/>
          <a:p>
            <a:pPr algn="ctr" indent="0" marL="0">
              <a:buNone/>
            </a:pPr>
            <a:r>
              <a:rPr lang="en-US" sz="1250" dirty="0">
                <a:solidFill>
                  <a:schemeClr val="tx2"/>
                </a:solidFill>
              </a:rPr>
              <a:t>SSO, RBAC, Helm, evals</a:t>
            </a:r>
            <a:endParaRPr lang="en-US" sz="1250" dirty="0"/>
          </a:p>
        </p:txBody>
      </p:sp>
      <p:sp>
        <p:nvSpPr>
          <p:cNvPr id="28" name="phase 6 dot"/>
          <p:cNvSpPr/>
          <p:nvPr/>
        </p:nvSpPr>
        <p:spPr>
          <a:xfrm>
            <a:off x="10469880" y="2194560"/>
            <a:ext cx="640080" cy="640080"/>
          </a:xfrm>
          <a:prstGeom prst="ellipse">
            <a:avLst/>
          </a:prstGeom>
          <a:solidFill>
            <a:schemeClr val="bg1"/>
          </a:solidFill>
          <a:ln w="25400">
            <a:solidFill>
              <a:schemeClr val="accent4"/>
            </a:solidFill>
            <a:prstDash val="solid"/>
          </a:ln>
        </p:spPr>
      </p:sp>
      <p:sp>
        <p:nvSpPr>
          <p:cNvPr id="29" name="Text 27"/>
          <p:cNvSpPr txBox="1"/>
          <p:nvPr/>
        </p:nvSpPr>
        <p:spPr>
          <a:xfrm>
            <a:off x="10469880" y="219456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rPr>
              <a:t>6</a:t>
            </a:r>
            <a:endParaRPr lang="en-US" sz="1800" dirty="0"/>
          </a:p>
        </p:txBody>
      </p:sp>
      <p:sp>
        <p:nvSpPr>
          <p:cNvPr id="30" name="Text 28"/>
          <p:cNvSpPr txBox="1"/>
          <p:nvPr/>
        </p:nvSpPr>
        <p:spPr>
          <a:xfrm>
            <a:off x="10149840" y="3063240"/>
            <a:ext cx="1463040" cy="411480"/>
          </a:xfrm>
          <a:prstGeom prst="rect">
            <a:avLst/>
          </a:prstGeom>
          <a:noFill/>
          <a:ln/>
        </p:spPr>
        <p:txBody>
          <a:bodyPr wrap="square" lIns="0" tIns="0" rIns="0" bIns="0" rtlCol="0" anchor="t"/>
          <a:lstStyle/>
          <a:p>
            <a:pPr algn="ctr" indent="0" marL="0">
              <a:buNone/>
            </a:pPr>
            <a:r>
              <a:rPr lang="en-US" sz="1500" b="1" dirty="0">
                <a:solidFill>
                  <a:schemeClr val="tx1"/>
                </a:solidFill>
              </a:rPr>
              <a:t>Ecosystem</a:t>
            </a:r>
            <a:endParaRPr lang="en-US" sz="1500" dirty="0"/>
          </a:p>
        </p:txBody>
      </p:sp>
      <p:sp>
        <p:nvSpPr>
          <p:cNvPr id="31" name="Text 29"/>
          <p:cNvSpPr txBox="1"/>
          <p:nvPr/>
        </p:nvSpPr>
        <p:spPr>
          <a:xfrm>
            <a:off x="10149840" y="3520440"/>
            <a:ext cx="1463040" cy="914400"/>
          </a:xfrm>
          <a:prstGeom prst="rect">
            <a:avLst/>
          </a:prstGeom>
          <a:noFill/>
          <a:ln/>
        </p:spPr>
        <p:txBody>
          <a:bodyPr wrap="square" lIns="0" tIns="0" rIns="0" bIns="0" rtlCol="0" anchor="t"/>
          <a:lstStyle/>
          <a:p>
            <a:pPr algn="ctr" indent="0" marL="0">
              <a:buNone/>
            </a:pPr>
            <a:r>
              <a:rPr lang="en-US" sz="1250" dirty="0">
                <a:solidFill>
                  <a:schemeClr val="tx2"/>
                </a:solidFill>
              </a:rPr>
              <a:t>Teams, PagerDuty, Datadog, plugins</a:t>
            </a:r>
            <a:endParaRPr lang="en-US" sz="1250" dirty="0"/>
          </a:p>
        </p:txBody>
      </p:sp>
      <p:sp>
        <p:nvSpPr>
          <p:cNvPr id="32" name="Text 30"/>
          <p:cNvSpPr txBox="1"/>
          <p:nvPr/>
        </p:nvSpPr>
        <p:spPr>
          <a:xfrm>
            <a:off x="548640" y="1600200"/>
            <a:ext cx="4480560" cy="365760"/>
          </a:xfrm>
          <a:prstGeom prst="rect">
            <a:avLst/>
          </a:prstGeom>
          <a:noFill/>
          <a:ln/>
        </p:spPr>
        <p:txBody>
          <a:bodyPr wrap="square" lIns="0" tIns="0" rIns="0" bIns="0" rtlCol="0" anchor="t"/>
          <a:lstStyle/>
          <a:p>
            <a:pPr algn="ctr" indent="0" marL="0">
              <a:buNone/>
            </a:pPr>
            <a:r>
              <a:rPr lang="en-US" sz="1400" b="1" dirty="0">
                <a:solidFill>
                  <a:schemeClr val="accent1"/>
                </a:solidFill>
              </a:rPr>
              <a:t>Built</a:t>
            </a:r>
            <a:endParaRPr lang="en-US" sz="1400" dirty="0"/>
          </a:p>
        </p:txBody>
      </p:sp>
      <p:sp>
        <p:nvSpPr>
          <p:cNvPr id="33" name="Text 31"/>
          <p:cNvSpPr txBox="1"/>
          <p:nvPr/>
        </p:nvSpPr>
        <p:spPr>
          <a:xfrm>
            <a:off x="5852160" y="1600200"/>
            <a:ext cx="5074920" cy="365760"/>
          </a:xfrm>
          <a:prstGeom prst="rect">
            <a:avLst/>
          </a:prstGeom>
          <a:noFill/>
          <a:ln/>
        </p:spPr>
        <p:txBody>
          <a:bodyPr wrap="square" lIns="0" tIns="0" rIns="0" bIns="0" rtlCol="0" anchor="t"/>
          <a:lstStyle/>
          <a:p>
            <a:pPr algn="ctr" indent="0" marL="0">
              <a:buNone/>
            </a:pPr>
            <a:r>
              <a:rPr lang="en-US" sz="1400" b="1" dirty="0">
                <a:solidFill>
                  <a:schemeClr val="accent4"/>
                </a:solidFill>
              </a:rPr>
              <a:t>Next</a:t>
            </a:r>
            <a:endParaRPr lang="en-US" sz="1400" dirty="0"/>
          </a:p>
        </p:txBody>
      </p:sp>
      <p:sp>
        <p:nvSpPr>
          <p:cNvPr id="34" name="vision card"/>
          <p:cNvSpPr/>
          <p:nvPr/>
        </p:nvSpPr>
        <p:spPr>
          <a:xfrm>
            <a:off x="548640" y="4846320"/>
            <a:ext cx="11064240" cy="1143000"/>
          </a:xfrm>
          <a:prstGeom prst="roundRect">
            <a:avLst>
              <a:gd name="adj" fmla="val 9600"/>
            </a:avLst>
          </a:prstGeom>
          <a:solidFill>
            <a:schemeClr val="bg2"/>
          </a:solidFill>
          <a:ln/>
        </p:spPr>
      </p:sp>
      <p:sp>
        <p:nvSpPr>
          <p:cNvPr id="35" name="Text 33"/>
          <p:cNvSpPr txBox="1"/>
          <p:nvPr/>
        </p:nvSpPr>
        <p:spPr>
          <a:xfrm>
            <a:off x="822960" y="4983480"/>
            <a:ext cx="10515600" cy="868680"/>
          </a:xfrm>
          <a:prstGeom prst="rect">
            <a:avLst/>
          </a:prstGeom>
          <a:noFill/>
          <a:ln/>
        </p:spPr>
        <p:txBody>
          <a:bodyPr wrap="square" lIns="0" tIns="0" rIns="0" bIns="0" rtlCol="0" anchor="ctr"/>
          <a:lstStyle/>
          <a:p>
            <a:pPr indent="0" marL="0">
              <a:buNone/>
            </a:pPr>
            <a:r>
              <a:rPr lang="en-US" sz="1600" dirty="0">
                <a:solidFill>
                  <a:schemeClr val="tx1"/>
                </a:solidFill>
              </a:rPr>
              <a:t>Where it goes: every team plugs its alerts, data and channels into one AI SRE that remembers what worked, proposes the fix, and runs it only with approval.</a:t>
            </a:r>
            <a:endParaRPr lang="en-US" sz="16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280160"/>
          </a:xfrm>
          <a:prstGeom prst="rect">
            <a:avLst/>
          </a:prstGeom>
          <a:noFill/>
          <a:ln/>
        </p:spPr>
        <p:txBody>
          <a:bodyPr wrap="square" lIns="0" tIns="0" rIns="0" bIns="0" rtlCol="0" anchor="b"/>
          <a:lstStyle/>
          <a:p>
            <a:pPr algn="l" indent="0" marL="0">
              <a:buNone/>
            </a:pPr>
            <a:r>
              <a:rPr lang="en-US" sz="5400" b="1" dirty="0">
                <a:solidFill>
                  <a:schemeClr val="bg1"/>
                </a:solidFill>
              </a:rPr>
              <a:t>Trusted data. Faster recovery.</a:t>
            </a:r>
            <a:endParaRPr lang="en-US" sz="5400" dirty="0"/>
          </a:p>
        </p:txBody>
      </p:sp>
      <p:sp>
        <p:nvSpPr>
          <p:cNvPr id="3" name="Text 0"/>
          <p:cNvSpPr/>
          <p:nvPr>
            <p:ph idx="101" type="body" hasCustomPrompt="1"/>
          </p:nvPr>
        </p:nvSpPr>
        <p:spPr>
          <a:xfrm>
            <a:off x="731520" y="3337560"/>
            <a:ext cx="10698480" cy="822960"/>
          </a:xfrm>
          <a:prstGeom prst="rect">
            <a:avLst/>
          </a:prstGeom>
          <a:noFill/>
          <a:ln/>
        </p:spPr>
        <p:txBody>
          <a:bodyPr wrap="square" lIns="0" tIns="0" rIns="0" bIns="0" rtlCol="0" anchor="t"/>
          <a:lstStyle/>
          <a:p>
            <a:pPr algn="l" indent="0" marL="0">
              <a:buNone/>
            </a:pPr>
            <a:r>
              <a:rPr lang="en-US" sz="2400" dirty="0">
                <a:solidFill>
                  <a:schemeClr val="accent1"/>
                </a:solidFill>
              </a:rPr>
              <a:t>And no unsupervised changes.</a:t>
            </a:r>
            <a:endParaRPr lang="en-US" sz="2400" dirty="0"/>
          </a:p>
        </p:txBody>
      </p:sp>
      <p:sp>
        <p:nvSpPr>
          <p:cNvPr id="4" name="logo circle"/>
          <p:cNvSpPr/>
          <p:nvPr/>
        </p:nvSpPr>
        <p:spPr>
          <a:xfrm>
            <a:off x="731520" y="777240"/>
            <a:ext cx="868680" cy="868680"/>
          </a:xfrm>
          <a:prstGeom prst="ellipse">
            <a:avLst/>
          </a:prstGeom>
          <a:solidFill>
            <a:schemeClr val="accent1"/>
          </a:solidFill>
          <a:ln/>
        </p:spPr>
      </p:sp>
      <p:pic>
        <p:nvPicPr>
          <p:cNvPr id="5" name="logo icon" descr="preencoded.png">    </p:cNvPr>
          <p:cNvPicPr>
            <a:picLocks noChangeAspect="1"/>
          </p:cNvPicPr>
          <p:nvPr/>
        </p:nvPicPr>
        <p:blipFill>
          <a:blip r:embed="rId1"/>
          <a:stretch>
            <a:fillRect/>
          </a:stretch>
        </p:blipFill>
        <p:spPr>
          <a:xfrm>
            <a:off x="948690" y="994410"/>
            <a:ext cx="434340" cy="434340"/>
          </a:xfrm>
          <a:prstGeom prst="rect">
            <a:avLst/>
          </a:prstGeom>
        </p:spPr>
      </p:pic>
      <p:sp>
        <p:nvSpPr>
          <p:cNvPr id="6" name="Text 3"/>
          <p:cNvSpPr txBox="1"/>
          <p:nvPr/>
        </p:nvSpPr>
        <p:spPr>
          <a:xfrm>
            <a:off x="731520" y="4480560"/>
            <a:ext cx="10058400" cy="1280160"/>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Code: </a:t>
            </a:r>
            <a:pPr indent="0" marL="0">
              <a:spcAft>
                <a:spcPts val="400"/>
              </a:spcAft>
              <a:buNone/>
            </a:pPr>
            <a:r>
              <a:rPr lang="en-US" sz="1600" dirty="0">
                <a:solidFill>
                  <a:schemeClr val="bg2"/>
                </a:solidFill>
              </a:rPr>
              <a:t>github.com/Shivathanu/ops-sentinel</a:t>
            </a:r>
            <a:endParaRPr lang="en-US" sz="1600" dirty="0"/>
          </a:p>
          <a:p>
            <a:pPr indent="0" marL="0">
              <a:spcAft>
                <a:spcPts val="400"/>
              </a:spcAft>
              <a:buNone/>
            </a:pPr>
            <a:r>
              <a:rPr lang="en-US" sz="1600" b="1" dirty="0">
                <a:solidFill>
                  <a:schemeClr val="accent1"/>
                </a:solidFill>
              </a:rPr>
              <a:t>Run it: </a:t>
            </a:r>
            <a:pPr indent="0" marL="0">
              <a:spcAft>
                <a:spcPts val="400"/>
              </a:spcAft>
              <a:buNone/>
            </a:pPr>
            <a:r>
              <a:rPr lang="en-US" sz="1600" dirty="0">
                <a:solidFill>
                  <a:schemeClr val="bg2"/>
                </a:solidFill>
              </a:rPr>
              <a:t>docs/getting-started.md  ·  Deploy it: docs/deployment.md</a:t>
            </a:r>
            <a:endParaRPr lang="en-US" sz="1600" dirty="0"/>
          </a:p>
          <a:p>
            <a:pPr indent="0" marL="0">
              <a:spcAft>
                <a:spcPts val="400"/>
              </a:spcAft>
              <a:buNone/>
            </a:pPr>
            <a:r>
              <a:rPr lang="en-US" sz="1600" b="1" dirty="0">
                <a:solidFill>
                  <a:schemeClr val="accent1"/>
                </a:solidFill>
              </a:rPr>
              <a:t>Licence: </a:t>
            </a:r>
            <a:pPr indent="0" marL="0">
              <a:spcAft>
                <a:spcPts val="400"/>
              </a:spcAft>
              <a:buNone/>
            </a:pPr>
            <a:r>
              <a:rPr lang="en-US" sz="1600" dirty="0">
                <a:solidFill>
                  <a:schemeClr val="bg2"/>
                </a:solidFill>
              </a:rPr>
              <a:t>Apache 2.0</a:t>
            </a:r>
            <a:endParaRPr lang="en-US" sz="1600" dirty="0"/>
          </a:p>
        </p:txBody>
      </p:sp>
    </p:spTree>
  </p:cSld>
  <p:clrMapOvr>
    <a:masterClrMapping/>
  </p:clrMapOvr>
</p:sld>
</file>

<file path=ppt/theme/theme1.xml><?xml version="1.0" encoding="utf-8"?>
<a:theme xmlns:a="http://schemas.openxmlformats.org/drawingml/2006/main" name="Ops Sentinel Night Watch">
  <a:themeElements>
    <a:clrScheme name="Ops Sentinel Night Watch">
      <a:dk1>
        <a:srgbClr val="0F1B2D"/>
      </a:dk1>
      <a:lt1>
        <a:srgbClr val="FFFFFF"/>
      </a:lt1>
      <a:dk2>
        <a:srgbClr val="33415C"/>
      </a:dk2>
      <a:lt2>
        <a:srgbClr val="EEF2F7"/>
      </a:lt2>
      <a:accent1>
        <a:srgbClr val="F2A93B"/>
      </a:accent1>
      <a:accent2>
        <a:srgbClr val="1F9E89"/>
      </a:accent2>
      <a:accent3>
        <a:srgbClr val="E4572E"/>
      </a:accent3>
      <a:accent4>
        <a:srgbClr val="3E5C8A"/>
      </a:accent4>
      <a:accent5>
        <a:srgbClr val="8FA3BF"/>
      </a:accent5>
      <a:accent6>
        <a:srgbClr val="1B2A44"/>
      </a:accent6>
      <a:hlink>
        <a:srgbClr val="3E5C8A"/>
      </a:hlink>
      <a:folHlink>
        <a:srgbClr val="33415C"/>
      </a:folHlink>
    </a:clrScheme>
    <a:fontScheme name="Ops Sentinel Night Watc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Ops Sentinel: the AI SRE for data platforms</dc:title>
  <dc:subject>Hackathon pitch</dc:subject>
  <dc:creator>Shivathanu</dc:creator>
  <cp:lastModifiedBy>Shivathanu</cp:lastModifiedBy>
  <cp:revision>1</cp:revision>
  <dcterms:created xsi:type="dcterms:W3CDTF">2026-10-31T16:50:47Z</dcterms:created>
  <dcterms:modified xsi:type="dcterms:W3CDTF">2026-10-31T16:50:47Z</dcterms:modified>
</cp:coreProperties>
</file>